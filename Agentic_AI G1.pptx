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877E6A-18D0-41A0-AFAE-7C51061DDCDA}" v="12" dt="2026-09-30T05:14:30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388" autoAdjust="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kant Pawan Jadhav" userId="322bfb4b12b90191" providerId="LiveId" clId="{C864049C-0543-45BD-915A-FBBE685DA2A5}"/>
    <pc:docChg chg="undo custSel modSld modMainMaster">
      <pc:chgData name="Krishnakant Pawan Jadhav" userId="322bfb4b12b90191" providerId="LiveId" clId="{C864049C-0543-45BD-915A-FBBE685DA2A5}" dt="2026-09-30T05:14:46.187" v="59" actId="207"/>
      <pc:docMkLst>
        <pc:docMk/>
      </pc:docMkLst>
      <pc:sldChg chg="modSp mod setBg">
        <pc:chgData name="Krishnakant Pawan Jadhav" userId="322bfb4b12b90191" providerId="LiveId" clId="{C864049C-0543-45BD-915A-FBBE685DA2A5}" dt="2026-09-30T05:13:57.087" v="56"/>
        <pc:sldMkLst>
          <pc:docMk/>
          <pc:sldMk cId="0" sldId="256"/>
        </pc:sldMkLst>
        <pc:spChg chg="mod">
          <ac:chgData name="Krishnakant Pawan Jadhav" userId="322bfb4b12b90191" providerId="LiveId" clId="{C864049C-0543-45BD-915A-FBBE685DA2A5}" dt="2026-09-30T05:11:03.911" v="31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 setBg">
        <pc:chgData name="Krishnakant Pawan Jadhav" userId="322bfb4b12b90191" providerId="LiveId" clId="{C864049C-0543-45BD-915A-FBBE685DA2A5}" dt="2026-09-30T05:13:57.087" v="56"/>
        <pc:sldMkLst>
          <pc:docMk/>
          <pc:sldMk cId="0" sldId="257"/>
        </pc:sldMkLst>
        <pc:spChg chg="mod">
          <ac:chgData name="Krishnakant Pawan Jadhav" userId="322bfb4b12b90191" providerId="LiveId" clId="{C864049C-0543-45BD-915A-FBBE685DA2A5}" dt="2026-09-30T05:11:49.486" v="52" actId="20577"/>
          <ac:spMkLst>
            <pc:docMk/>
            <pc:sldMk cId="0" sldId="257"/>
            <ac:spMk id="6" creationId="{00000000-0000-0000-0000-000000000000}"/>
          </ac:spMkLst>
        </pc:spChg>
        <pc:graphicFrameChg chg="mod modGraphic">
          <ac:chgData name="Krishnakant Pawan Jadhav" userId="322bfb4b12b90191" providerId="LiveId" clId="{C864049C-0543-45BD-915A-FBBE685DA2A5}" dt="2026-09-30T05:11:35.566" v="44" actId="20577"/>
          <ac:graphicFrameMkLst>
            <pc:docMk/>
            <pc:sldMk cId="0" sldId="257"/>
            <ac:graphicFrameMk id="3" creationId="{00000000-0000-0000-0000-000000000000}"/>
          </ac:graphicFrameMkLst>
        </pc:graphicFrameChg>
      </pc:sldChg>
      <pc:sldChg chg="setBg">
        <pc:chgData name="Krishnakant Pawan Jadhav" userId="322bfb4b12b90191" providerId="LiveId" clId="{C864049C-0543-45BD-915A-FBBE685DA2A5}" dt="2026-09-30T05:13:57.087" v="56"/>
        <pc:sldMkLst>
          <pc:docMk/>
          <pc:sldMk cId="0" sldId="258"/>
        </pc:sldMkLst>
      </pc:sldChg>
      <pc:sldChg chg="setBg">
        <pc:chgData name="Krishnakant Pawan Jadhav" userId="322bfb4b12b90191" providerId="LiveId" clId="{C864049C-0543-45BD-915A-FBBE685DA2A5}" dt="2026-09-30T05:13:57.087" v="56"/>
        <pc:sldMkLst>
          <pc:docMk/>
          <pc:sldMk cId="0" sldId="259"/>
        </pc:sldMkLst>
      </pc:sldChg>
      <pc:sldChg chg="setBg">
        <pc:chgData name="Krishnakant Pawan Jadhav" userId="322bfb4b12b90191" providerId="LiveId" clId="{C864049C-0543-45BD-915A-FBBE685DA2A5}" dt="2026-09-30T05:13:57.087" v="56"/>
        <pc:sldMkLst>
          <pc:docMk/>
          <pc:sldMk cId="0" sldId="260"/>
        </pc:sldMkLst>
      </pc:sldChg>
      <pc:sldChg chg="setBg">
        <pc:chgData name="Krishnakant Pawan Jadhav" userId="322bfb4b12b90191" providerId="LiveId" clId="{C864049C-0543-45BD-915A-FBBE685DA2A5}" dt="2026-09-30T05:13:57.087" v="56"/>
        <pc:sldMkLst>
          <pc:docMk/>
          <pc:sldMk cId="0" sldId="261"/>
        </pc:sldMkLst>
      </pc:sldChg>
      <pc:sldChg chg="setBg">
        <pc:chgData name="Krishnakant Pawan Jadhav" userId="322bfb4b12b90191" providerId="LiveId" clId="{C864049C-0543-45BD-915A-FBBE685DA2A5}" dt="2026-09-30T05:13:57.087" v="56"/>
        <pc:sldMkLst>
          <pc:docMk/>
          <pc:sldMk cId="0" sldId="262"/>
        </pc:sldMkLst>
      </pc:sldChg>
      <pc:sldChg chg="setBg">
        <pc:chgData name="Krishnakant Pawan Jadhav" userId="322bfb4b12b90191" providerId="LiveId" clId="{C864049C-0543-45BD-915A-FBBE685DA2A5}" dt="2026-09-30T05:13:57.087" v="56"/>
        <pc:sldMkLst>
          <pc:docMk/>
          <pc:sldMk cId="0" sldId="263"/>
        </pc:sldMkLst>
      </pc:sldChg>
      <pc:sldChg chg="setBg">
        <pc:chgData name="Krishnakant Pawan Jadhav" userId="322bfb4b12b90191" providerId="LiveId" clId="{C864049C-0543-45BD-915A-FBBE685DA2A5}" dt="2026-09-30T05:13:57.087" v="56"/>
        <pc:sldMkLst>
          <pc:docMk/>
          <pc:sldMk cId="0" sldId="264"/>
        </pc:sldMkLst>
      </pc:sldChg>
      <pc:sldChg chg="setBg">
        <pc:chgData name="Krishnakant Pawan Jadhav" userId="322bfb4b12b90191" providerId="LiveId" clId="{C864049C-0543-45BD-915A-FBBE685DA2A5}" dt="2026-09-30T05:13:57.087" v="56"/>
        <pc:sldMkLst>
          <pc:docMk/>
          <pc:sldMk cId="0" sldId="265"/>
        </pc:sldMkLst>
      </pc:sldChg>
      <pc:sldChg chg="setBg">
        <pc:chgData name="Krishnakant Pawan Jadhav" userId="322bfb4b12b90191" providerId="LiveId" clId="{C864049C-0543-45BD-915A-FBBE685DA2A5}" dt="2026-09-30T05:13:57.087" v="56"/>
        <pc:sldMkLst>
          <pc:docMk/>
          <pc:sldMk cId="0" sldId="266"/>
        </pc:sldMkLst>
      </pc:sldChg>
      <pc:sldChg chg="setBg">
        <pc:chgData name="Krishnakant Pawan Jadhav" userId="322bfb4b12b90191" providerId="LiveId" clId="{C864049C-0543-45BD-915A-FBBE685DA2A5}" dt="2026-09-30T05:13:57.087" v="56"/>
        <pc:sldMkLst>
          <pc:docMk/>
          <pc:sldMk cId="0" sldId="267"/>
        </pc:sldMkLst>
      </pc:sldChg>
      <pc:sldChg chg="setBg">
        <pc:chgData name="Krishnakant Pawan Jadhav" userId="322bfb4b12b90191" providerId="LiveId" clId="{C864049C-0543-45BD-915A-FBBE685DA2A5}" dt="2026-09-30T05:13:57.087" v="56"/>
        <pc:sldMkLst>
          <pc:docMk/>
          <pc:sldMk cId="0" sldId="268"/>
        </pc:sldMkLst>
      </pc:sldChg>
      <pc:sldChg chg="setBg">
        <pc:chgData name="Krishnakant Pawan Jadhav" userId="322bfb4b12b90191" providerId="LiveId" clId="{C864049C-0543-45BD-915A-FBBE685DA2A5}" dt="2026-09-30T05:13:57.087" v="56"/>
        <pc:sldMkLst>
          <pc:docMk/>
          <pc:sldMk cId="0" sldId="269"/>
        </pc:sldMkLst>
      </pc:sldChg>
      <pc:sldChg chg="setBg">
        <pc:chgData name="Krishnakant Pawan Jadhav" userId="322bfb4b12b90191" providerId="LiveId" clId="{C864049C-0543-45BD-915A-FBBE685DA2A5}" dt="2026-09-30T05:13:57.087" v="56"/>
        <pc:sldMkLst>
          <pc:docMk/>
          <pc:sldMk cId="0" sldId="270"/>
        </pc:sldMkLst>
      </pc:sldChg>
      <pc:sldChg chg="modSp mod setBg">
        <pc:chgData name="Krishnakant Pawan Jadhav" userId="322bfb4b12b90191" providerId="LiveId" clId="{C864049C-0543-45BD-915A-FBBE685DA2A5}" dt="2026-09-30T05:14:46.187" v="59" actId="207"/>
        <pc:sldMkLst>
          <pc:docMk/>
          <pc:sldMk cId="0" sldId="271"/>
        </pc:sldMkLst>
        <pc:spChg chg="mod">
          <ac:chgData name="Krishnakant Pawan Jadhav" userId="322bfb4b12b90191" providerId="LiveId" clId="{C864049C-0543-45BD-915A-FBBE685DA2A5}" dt="2026-09-30T05:11:03.061" v="23" actId="207"/>
          <ac:spMkLst>
            <pc:docMk/>
            <pc:sldMk cId="0" sldId="271"/>
            <ac:spMk id="2" creationId="{00000000-0000-0000-0000-000000000000}"/>
          </ac:spMkLst>
        </pc:spChg>
        <pc:spChg chg="mod">
          <ac:chgData name="Krishnakant Pawan Jadhav" userId="322bfb4b12b90191" providerId="LiveId" clId="{C864049C-0543-45BD-915A-FBBE685DA2A5}" dt="2026-09-30T05:14:46.187" v="59" actId="207"/>
          <ac:spMkLst>
            <pc:docMk/>
            <pc:sldMk cId="0" sldId="271"/>
            <ac:spMk id="3" creationId="{00000000-0000-0000-0000-000000000000}"/>
          </ac:spMkLst>
        </pc:spChg>
      </pc:sldChg>
      <pc:sldChg chg="modSp mod setBg">
        <pc:chgData name="Krishnakant Pawan Jadhav" userId="322bfb4b12b90191" providerId="LiveId" clId="{C864049C-0543-45BD-915A-FBBE685DA2A5}" dt="2026-09-30T05:13:57.087" v="56"/>
        <pc:sldMkLst>
          <pc:docMk/>
          <pc:sldMk cId="0" sldId="272"/>
        </pc:sldMkLst>
        <pc:spChg chg="mod">
          <ac:chgData name="Krishnakant Pawan Jadhav" userId="322bfb4b12b90191" providerId="LiveId" clId="{C864049C-0543-45BD-915A-FBBE685DA2A5}" dt="2026-09-30T05:13:17.561" v="54" actId="1076"/>
          <ac:spMkLst>
            <pc:docMk/>
            <pc:sldMk cId="0" sldId="272"/>
            <ac:spMk id="3" creationId="{00000000-0000-0000-0000-000000000000}"/>
          </ac:spMkLst>
        </pc:spChg>
      </pc:sldChg>
      <pc:sldMasterChg chg="setBg modSldLayout">
        <pc:chgData name="Krishnakant Pawan Jadhav" userId="322bfb4b12b90191" providerId="LiveId" clId="{C864049C-0543-45BD-915A-FBBE685DA2A5}" dt="2026-09-30T05:13:57.087" v="56"/>
        <pc:sldMasterMkLst>
          <pc:docMk/>
          <pc:sldMasterMk cId="0" sldId="2147483648"/>
        </pc:sldMasterMkLst>
        <pc:sldLayoutChg chg="setBg">
          <pc:chgData name="Krishnakant Pawan Jadhav" userId="322bfb4b12b90191" providerId="LiveId" clId="{C864049C-0543-45BD-915A-FBBE685DA2A5}" dt="2026-09-30T05:13:57.087" v="56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2792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27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6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images/search/thank%20you%20for%20participating/" TargetMode="External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7D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 from Chatbots to Autonomous AI Systems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 |  AI Agents  |  Large Language Models</a:t>
            </a:r>
            <a:endParaRPr lang="en-US" sz="1600" dirty="0"/>
          </a:p>
        </p:txBody>
      </p:sp>
      <p:pic>
        <p:nvPicPr>
          <p:cNvPr id="5" name="Icon Robot" descr="Rob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6576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Information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20816"/>
              </p:ext>
            </p:extLst>
          </p:nvPr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Amman Mujawar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Moiz Mujawar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Krishnakant Jadhav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3832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 txBox="1"/>
          <p:nvPr/>
        </p:nvSpPr>
        <p:spPr>
          <a:xfrm>
            <a:off x="594360" y="3474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D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3840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Razee Faizee (HOD)</a:t>
            </a:r>
            <a:endParaRPr lang="en-US" sz="1800" dirty="0"/>
          </a:p>
        </p:txBody>
      </p:sp>
      <p:pic>
        <p:nvPicPr>
          <p:cNvPr id="7" name="Icon Graduation cap" descr="Graduation c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74320"/>
            <a:ext cx="548640" cy="548640"/>
          </a:xfrm>
          <a:prstGeom prst="rect">
            <a:avLst/>
          </a:prstGeom>
        </p:spPr>
      </p:pic>
      <p:pic>
        <p:nvPicPr>
          <p:cNvPr id="8" name="Icon Guide" descr="Gui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356616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chatbots only answered questions.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AI systems can plan, decide and act on their own.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Agentic AI.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built on three big technologies: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30175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9436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474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"brain" that understands language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30175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342900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3474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text, images, code and more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301752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26364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3474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tools to finish tasks by themselves</a:t>
            </a:r>
            <a:endParaRPr lang="en-US" sz="1300" dirty="0"/>
          </a:p>
        </p:txBody>
      </p:sp>
      <p:pic>
        <p:nvPicPr>
          <p:cNvPr id="13" name="Icon AI agent" descr="AI ag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188720"/>
            <a:ext cx="1463040" cy="1463040"/>
          </a:xfrm>
          <a:prstGeom prst="rect">
            <a:avLst/>
          </a:prstGeom>
        </p:spPr>
      </p:pic>
      <p:pic>
        <p:nvPicPr>
          <p:cNvPr id="14" name="Icon brain" descr="brai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3794760"/>
            <a:ext cx="457200" cy="457200"/>
          </a:xfrm>
          <a:prstGeom prst="rect">
            <a:avLst/>
          </a:prstGeom>
        </p:spPr>
      </p:pic>
      <p:pic>
        <p:nvPicPr>
          <p:cNvPr id="15" name="Icon magic" descr="magi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794760"/>
            <a:ext cx="457200" cy="457200"/>
          </a:xfrm>
          <a:prstGeom prst="rect">
            <a:avLst/>
          </a:prstGeom>
        </p:spPr>
      </p:pic>
      <p:pic>
        <p:nvPicPr>
          <p:cNvPr id="16" name="Icon cogs" descr="cog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37947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How AI Evolved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365760" y="1280160"/>
            <a:ext cx="1554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1960s-2000s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1554480" cy="210312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02920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chatbots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4688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replies (e.g. ELIZA)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1554480"/>
            <a:ext cx="182880" cy="0"/>
          </a:xfrm>
          <a:prstGeom prst="line">
            <a:avLst/>
          </a:prstGeom>
          <a:noFill/>
          <a:ln w="31750">
            <a:solidFill>
              <a:srgbClr val="0EA5A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103120" y="128016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103120" y="1280160"/>
            <a:ext cx="1554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03120" y="2011680"/>
            <a:ext cx="1554480" cy="210312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240280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24688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Siri, Alexa: simple commands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1554480"/>
            <a:ext cx="182880" cy="0"/>
          </a:xfrm>
          <a:prstGeom prst="line">
            <a:avLst/>
          </a:prstGeom>
          <a:noFill/>
          <a:ln w="31750">
            <a:solidFill>
              <a:srgbClr val="0EA5A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840480" y="128016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3840480" y="1280160"/>
            <a:ext cx="1554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2017-2020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2011680"/>
            <a:ext cx="1554480" cy="210312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3977640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arrive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24688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model, GPT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94960" y="1554480"/>
            <a:ext cx="182880" cy="0"/>
          </a:xfrm>
          <a:prstGeom prst="line">
            <a:avLst/>
          </a:prstGeom>
          <a:noFill/>
          <a:ln w="31750">
            <a:solidFill>
              <a:srgbClr val="0EA5A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577840" y="128016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5577840" y="1280160"/>
            <a:ext cx="1554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77840" y="2011680"/>
            <a:ext cx="1554480" cy="210312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5715000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715000" y="24688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writes and creates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32320" y="1554480"/>
            <a:ext cx="182880" cy="0"/>
          </a:xfrm>
          <a:prstGeom prst="line">
            <a:avLst/>
          </a:prstGeom>
          <a:noFill/>
          <a:ln w="31750">
            <a:solidFill>
              <a:srgbClr val="0EA5A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315200" y="128016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7315200" y="1280160"/>
            <a:ext cx="155448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2024+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0" y="2011680"/>
            <a:ext cx="1554480" cy="210312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7452360" y="21031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24688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plans and acts alone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made AI more independent.</a:t>
            </a:r>
            <a:endParaRPr lang="en-US" sz="1500" dirty="0"/>
          </a:p>
        </p:txBody>
      </p:sp>
      <p:pic>
        <p:nvPicPr>
          <p:cNvPr id="33" name="Icon chat" descr="cha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91840"/>
            <a:ext cx="640080" cy="640080"/>
          </a:xfrm>
          <a:prstGeom prst="rect">
            <a:avLst/>
          </a:prstGeom>
        </p:spPr>
      </p:pic>
      <p:pic>
        <p:nvPicPr>
          <p:cNvPr id="34" name="Icon mic" descr="m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291840"/>
            <a:ext cx="640080" cy="640080"/>
          </a:xfrm>
          <a:prstGeom prst="rect">
            <a:avLst/>
          </a:prstGeom>
        </p:spPr>
      </p:pic>
      <p:pic>
        <p:nvPicPr>
          <p:cNvPr id="35" name="Icon brain" descr="bra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291840"/>
            <a:ext cx="640080" cy="640080"/>
          </a:xfrm>
          <a:prstGeom prst="rect">
            <a:avLst/>
          </a:prstGeom>
        </p:spPr>
      </p:pic>
      <p:pic>
        <p:nvPicPr>
          <p:cNvPr id="36" name="Icon magic" descr="magi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3291840"/>
            <a:ext cx="640080" cy="640080"/>
          </a:xfrm>
          <a:prstGeom prst="rect">
            <a:avLst/>
          </a:prstGeom>
        </p:spPr>
      </p:pic>
      <p:pic>
        <p:nvPicPr>
          <p:cNvPr id="37" name="Icon robot" descr="robo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32918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Agentic 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Chatbot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your question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one answer only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use other apps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Forgets past work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every step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8920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60020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goal from you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 step-by-step plan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tools (web, email, code)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and learns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Finishes the work itself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need AI that does the work, not just talks about it.</a:t>
            </a:r>
            <a:endParaRPr lang="en-US" sz="1500" dirty="0"/>
          </a:p>
        </p:txBody>
      </p:sp>
      <p:pic>
        <p:nvPicPr>
          <p:cNvPr id="10" name="Icon Chatbot" descr="Chatb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170432"/>
            <a:ext cx="457200" cy="457200"/>
          </a:xfrm>
          <a:prstGeom prst="rect">
            <a:avLst/>
          </a:prstGeom>
        </p:spPr>
      </p:pic>
      <p:pic>
        <p:nvPicPr>
          <p:cNvPr id="11" name="Icon Agent" descr="Ag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170432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Concepts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large AI model trained on huge text data. It understands and writes human language.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42900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5544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creates new content: text, images, music, code and video.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2636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544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that uses an LLM to think, choose tools and take actions.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94360" y="36118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DD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= LLM + Memory + Tools + Planning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977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that works toward a goal with little human help.</a:t>
            </a:r>
            <a:endParaRPr lang="en-US" sz="1400" dirty="0"/>
          </a:p>
        </p:txBody>
      </p:sp>
      <p:pic>
        <p:nvPicPr>
          <p:cNvPr id="15" name="Icon brain" descr="br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606040"/>
            <a:ext cx="548640" cy="548640"/>
          </a:xfrm>
          <a:prstGeom prst="rect">
            <a:avLst/>
          </a:prstGeom>
        </p:spPr>
      </p:pic>
      <p:pic>
        <p:nvPicPr>
          <p:cNvPr id="16" name="Icon magic" descr="mag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606040"/>
            <a:ext cx="548640" cy="548640"/>
          </a:xfrm>
          <a:prstGeom prst="rect">
            <a:avLst/>
          </a:prstGeom>
        </p:spPr>
      </p:pic>
      <p:pic>
        <p:nvPicPr>
          <p:cNvPr id="17" name="Icon robot" descr="rob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606040"/>
            <a:ext cx="548640" cy="548640"/>
          </a:xfrm>
          <a:prstGeom prst="rect">
            <a:avLst/>
          </a:prstGeom>
        </p:spPr>
      </p:pic>
      <p:pic>
        <p:nvPicPr>
          <p:cNvPr id="18" name="Icon Goal" descr="Goa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365760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/ Architecture of an AI Agent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82880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365760" y="1828800"/>
            <a:ext cx="14630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Goal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94560" y="182880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2194560" y="1828800"/>
            <a:ext cx="164592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Planner (LLM Brain)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0" y="182880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206240" y="1828800"/>
            <a:ext cx="14630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Tools / Actions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82880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035040" y="1828800"/>
            <a:ext cx="14630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Result Check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182880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7772400" y="1828800"/>
            <a:ext cx="10058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Final Answer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2194560"/>
            <a:ext cx="365760" cy="0"/>
          </a:xfrm>
          <a:prstGeom prst="line">
            <a:avLst/>
          </a:prstGeom>
          <a:noFill/>
          <a:ln w="31750">
            <a:solidFill>
              <a:srgbClr val="0EA5A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840480" y="2194560"/>
            <a:ext cx="365760" cy="0"/>
          </a:xfrm>
          <a:prstGeom prst="line">
            <a:avLst/>
          </a:prstGeom>
          <a:noFill/>
          <a:ln w="31750">
            <a:solidFill>
              <a:srgbClr val="0EA5A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669280" y="2194560"/>
            <a:ext cx="365760" cy="0"/>
          </a:xfrm>
          <a:prstGeom prst="line">
            <a:avLst/>
          </a:prstGeom>
          <a:noFill/>
          <a:ln w="31750">
            <a:solidFill>
              <a:srgbClr val="0EA5A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498080" y="2194560"/>
            <a:ext cx="274320" cy="0"/>
          </a:xfrm>
          <a:prstGeom prst="line">
            <a:avLst/>
          </a:prstGeom>
          <a:noFill/>
          <a:ln w="31750">
            <a:solidFill>
              <a:srgbClr val="0EA5A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91840" y="347472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3291840" y="3474720"/>
            <a:ext cx="29260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(past steps and facts)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flipH="1" flipV="1">
            <a:off x="3200400" y="2560320"/>
            <a:ext cx="1554480" cy="914400"/>
          </a:xfrm>
          <a:prstGeom prst="line">
            <a:avLst/>
          </a:prstGeom>
          <a:noFill/>
          <a:ln w="31750">
            <a:solidFill>
              <a:srgbClr val="0EA5A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 flipH="1">
            <a:off x="5943600" y="2560320"/>
            <a:ext cx="822960" cy="914400"/>
          </a:xfrm>
          <a:prstGeom prst="line">
            <a:avLst/>
          </a:prstGeom>
          <a:noFill/>
          <a:ln w="31750">
            <a:solidFill>
              <a:srgbClr val="0EA5A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result is not good, the agent plans again (loop).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 -&gt;  Act  -&gt;  Check  -&gt;  Repeat until the goal is done</a:t>
            </a:r>
            <a:endParaRPr lang="en-US" sz="1500" dirty="0"/>
          </a:p>
        </p:txBody>
      </p:sp>
      <p:pic>
        <p:nvPicPr>
          <p:cNvPr id="23" name="Icon User" descr="Us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97480"/>
            <a:ext cx="457200" cy="457200"/>
          </a:xfrm>
          <a:prstGeom prst="rect">
            <a:avLst/>
          </a:prstGeom>
        </p:spPr>
      </p:pic>
      <p:pic>
        <p:nvPicPr>
          <p:cNvPr id="24" name="Icon Done" descr="D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697480"/>
            <a:ext cx="457200" cy="457200"/>
          </a:xfrm>
          <a:prstGeom prst="rect">
            <a:avLst/>
          </a:prstGeom>
        </p:spPr>
      </p:pic>
      <p:pic>
        <p:nvPicPr>
          <p:cNvPr id="25" name="Icon Agent" descr="Agen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383280"/>
            <a:ext cx="822960" cy="822960"/>
          </a:xfrm>
          <a:prstGeom prst="rect">
            <a:avLst/>
          </a:prstGeom>
        </p:spPr>
      </p:pic>
      <p:pic>
        <p:nvPicPr>
          <p:cNvPr id="26" name="Icon Memory" descr="Memor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5204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/ Technologies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Brain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GPT, Claude, Gemini: reasoning and language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42900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chat and long-term vector database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2636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APIs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email, calendar, code runner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9436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2918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 big goal into small steps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28346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34290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2918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AutoGen, CrewAI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28346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26364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2918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human approval for risky actions</a:t>
            </a:r>
            <a:endParaRPr lang="en-US" sz="1300" dirty="0"/>
          </a:p>
        </p:txBody>
      </p:sp>
      <p:pic>
        <p:nvPicPr>
          <p:cNvPr id="21" name="Icon brain" descr="br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057400"/>
            <a:ext cx="502920" cy="502920"/>
          </a:xfrm>
          <a:prstGeom prst="rect">
            <a:avLst/>
          </a:prstGeom>
        </p:spPr>
      </p:pic>
      <p:pic>
        <p:nvPicPr>
          <p:cNvPr id="22" name="Icon db" descr="d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057400"/>
            <a:ext cx="502920" cy="502920"/>
          </a:xfrm>
          <a:prstGeom prst="rect">
            <a:avLst/>
          </a:prstGeom>
        </p:spPr>
      </p:pic>
      <p:pic>
        <p:nvPicPr>
          <p:cNvPr id="23" name="Icon tools" descr="tool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057400"/>
            <a:ext cx="502920" cy="502920"/>
          </a:xfrm>
          <a:prstGeom prst="rect">
            <a:avLst/>
          </a:prstGeom>
        </p:spPr>
      </p:pic>
      <p:pic>
        <p:nvPicPr>
          <p:cNvPr id="24" name="Icon tasks" descr="task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3794760"/>
            <a:ext cx="502920" cy="502920"/>
          </a:xfrm>
          <a:prstGeom prst="rect">
            <a:avLst/>
          </a:prstGeom>
        </p:spPr>
      </p:pic>
      <p:pic>
        <p:nvPicPr>
          <p:cNvPr id="25" name="Icon layers" descr="layer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3794760"/>
            <a:ext cx="502920" cy="502920"/>
          </a:xfrm>
          <a:prstGeom prst="rect">
            <a:avLst/>
          </a:prstGeom>
        </p:spPr>
      </p:pic>
      <p:pic>
        <p:nvPicPr>
          <p:cNvPr id="26" name="Icon shield" descr="shiel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37947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Applications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visits, summarise patient notes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42900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checks, loan processing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2636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write, test and fix code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9436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2918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tickets end to 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28346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34290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2918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tutor for each student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28346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26364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2918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stock and orders</a:t>
            </a:r>
            <a:endParaRPr lang="en-US" sz="1300" dirty="0"/>
          </a:p>
        </p:txBody>
      </p:sp>
      <p:pic>
        <p:nvPicPr>
          <p:cNvPr id="21" name="Icon heart" descr="he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057400"/>
            <a:ext cx="502920" cy="502920"/>
          </a:xfrm>
          <a:prstGeom prst="rect">
            <a:avLst/>
          </a:prstGeom>
        </p:spPr>
      </p:pic>
      <p:pic>
        <p:nvPicPr>
          <p:cNvPr id="22" name="Icon bank" descr="ban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057400"/>
            <a:ext cx="502920" cy="502920"/>
          </a:xfrm>
          <a:prstGeom prst="rect">
            <a:avLst/>
          </a:prstGeom>
        </p:spPr>
      </p:pic>
      <p:pic>
        <p:nvPicPr>
          <p:cNvPr id="23" name="Icon code" descr="cod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057400"/>
            <a:ext cx="502920" cy="502920"/>
          </a:xfrm>
          <a:prstGeom prst="rect">
            <a:avLst/>
          </a:prstGeom>
        </p:spPr>
      </p:pic>
      <p:pic>
        <p:nvPicPr>
          <p:cNvPr id="24" name="Icon headset" descr="headse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3794760"/>
            <a:ext cx="502920" cy="502920"/>
          </a:xfrm>
          <a:prstGeom prst="rect">
            <a:avLst/>
          </a:prstGeom>
        </p:spPr>
      </p:pic>
      <p:pic>
        <p:nvPicPr>
          <p:cNvPr id="25" name="Icon tutor" descr="tuto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3794760"/>
            <a:ext cx="502920" cy="502920"/>
          </a:xfrm>
          <a:prstGeom prst="rect">
            <a:avLst/>
          </a:prstGeom>
        </p:spPr>
      </p:pic>
      <p:pic>
        <p:nvPicPr>
          <p:cNvPr id="26" name="Icon cart" descr="car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37947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Study: Klarna AI Assistant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Klarna (a payments company) launched an AI customer-service assistant built on OpenAI models in 2024.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365760" y="1920240"/>
            <a:ext cx="1463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asks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240280"/>
            <a:ext cx="274320" cy="0"/>
          </a:xfrm>
          <a:prstGeom prst="line">
            <a:avLst/>
          </a:prstGeom>
          <a:noFill/>
          <a:ln w="31750">
            <a:solidFill>
              <a:srgbClr val="0EA5A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103120" y="192024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103120" y="1920240"/>
            <a:ext cx="1463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240280"/>
            <a:ext cx="274320" cy="0"/>
          </a:xfrm>
          <a:prstGeom prst="line">
            <a:avLst/>
          </a:prstGeom>
          <a:noFill/>
          <a:ln w="31750">
            <a:solidFill>
              <a:srgbClr val="0EA5A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840480" y="192024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840480" y="1920240"/>
            <a:ext cx="1463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checks account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2240280"/>
            <a:ext cx="274320" cy="0"/>
          </a:xfrm>
          <a:prstGeom prst="line">
            <a:avLst/>
          </a:prstGeom>
          <a:noFill/>
          <a:ln w="31750">
            <a:solidFill>
              <a:srgbClr val="0EA5A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577840" y="192024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577840" y="1920240"/>
            <a:ext cx="1463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solves issue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2240280"/>
            <a:ext cx="274320" cy="0"/>
          </a:xfrm>
          <a:prstGeom prst="line">
            <a:avLst/>
          </a:prstGeom>
          <a:noFill/>
          <a:ln w="31750">
            <a:solidFill>
              <a:srgbClr val="0EA5A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00" y="192024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315200" y="1920240"/>
            <a:ext cx="14630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if needed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594360" y="30175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results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3832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about two-thirds of chats in its first month (company report)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in many languages, 24 hours a day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replies; company also said it later added more human support for quality</a:t>
            </a:r>
            <a:endParaRPr lang="en-US" sz="1300" dirty="0"/>
          </a:p>
        </p:txBody>
      </p:sp>
      <p:pic>
        <p:nvPicPr>
          <p:cNvPr id="21" name="Icon Customer service" descr="Customer serv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74320"/>
            <a:ext cx="502920" cy="502920"/>
          </a:xfrm>
          <a:prstGeom prst="rect">
            <a:avLst/>
          </a:prstGeom>
        </p:spPr>
      </p:pic>
      <p:pic>
        <p:nvPicPr>
          <p:cNvPr id="22" name="Icon Results" descr="Resul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38328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time: works 24/7 without breaks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and repeated work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many tasks at the same time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faster, data-based decisions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and improves with feedback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cost for businesses</a:t>
            </a:r>
            <a:endParaRPr lang="en-US" sz="1900" dirty="0"/>
          </a:p>
        </p:txBody>
      </p:sp>
      <p:pic>
        <p:nvPicPr>
          <p:cNvPr id="4" name="Icon clock" descr="clo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914400" cy="914400"/>
          </a:xfrm>
          <a:prstGeom prst="rect">
            <a:avLst/>
          </a:prstGeom>
        </p:spPr>
      </p:pic>
      <p:pic>
        <p:nvPicPr>
          <p:cNvPr id="5" name="Icon cogs" descr="cog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463040"/>
            <a:ext cx="914400" cy="914400"/>
          </a:xfrm>
          <a:prstGeom prst="rect">
            <a:avLst/>
          </a:prstGeom>
        </p:spPr>
      </p:pic>
      <p:pic>
        <p:nvPicPr>
          <p:cNvPr id="6" name="Icon users" descr="use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743200"/>
            <a:ext cx="914400" cy="914400"/>
          </a:xfrm>
          <a:prstGeom prst="rect">
            <a:avLst/>
          </a:prstGeom>
        </p:spPr>
      </p:pic>
      <p:pic>
        <p:nvPicPr>
          <p:cNvPr id="7" name="Icon chart" descr="cha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79" y="2743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/ Challenges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give wrong answers (hallucination)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42900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with access can be misused or hacked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2636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data, so data must be protected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9436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2918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big models is expensive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28346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34290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Control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2918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know why AI took an action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28346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26364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Impact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2918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routine jobs may change</a:t>
            </a:r>
            <a:endParaRPr lang="en-US" sz="1300" dirty="0"/>
          </a:p>
        </p:txBody>
      </p:sp>
      <p:pic>
        <p:nvPicPr>
          <p:cNvPr id="21" name="Icon warn" descr="war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2057400"/>
            <a:ext cx="502920" cy="502920"/>
          </a:xfrm>
          <a:prstGeom prst="rect">
            <a:avLst/>
          </a:prstGeom>
        </p:spPr>
      </p:pic>
      <p:pic>
        <p:nvPicPr>
          <p:cNvPr id="22" name="Icon lock" descr="l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057400"/>
            <a:ext cx="502920" cy="502920"/>
          </a:xfrm>
          <a:prstGeom prst="rect">
            <a:avLst/>
          </a:prstGeom>
        </p:spPr>
      </p:pic>
      <p:pic>
        <p:nvPicPr>
          <p:cNvPr id="23" name="Icon secret" descr="secr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057400"/>
            <a:ext cx="502920" cy="502920"/>
          </a:xfrm>
          <a:prstGeom prst="rect">
            <a:avLst/>
          </a:prstGeom>
        </p:spPr>
      </p:pic>
      <p:pic>
        <p:nvPicPr>
          <p:cNvPr id="24" name="Icon dollar" descr="dolla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3794760"/>
            <a:ext cx="502920" cy="502920"/>
          </a:xfrm>
          <a:prstGeom prst="rect">
            <a:avLst/>
          </a:prstGeom>
        </p:spPr>
      </p:pic>
      <p:pic>
        <p:nvPicPr>
          <p:cNvPr id="25" name="Icon scale" descr="sca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3794760"/>
            <a:ext cx="502920" cy="502920"/>
          </a:xfrm>
          <a:prstGeom prst="rect">
            <a:avLst/>
          </a:prstGeom>
        </p:spPr>
      </p:pic>
      <p:pic>
        <p:nvPicPr>
          <p:cNvPr id="26" name="Icon briefcase" descr="briefcas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379476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Expected Outcomes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Productivity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544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finish more work in less time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80060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Job Roles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5544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supervisors, prompt and agent engineers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9436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Business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2918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backed by real-time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80060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+ AI Teams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2918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focus on creative and strategic work</a:t>
            </a:r>
            <a:endParaRPr lang="en-US" sz="1400" dirty="0"/>
          </a:p>
        </p:txBody>
      </p:sp>
      <p:pic>
        <p:nvPicPr>
          <p:cNvPr id="15" name="Icon rocket" descr="roc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965960"/>
            <a:ext cx="548640" cy="548640"/>
          </a:xfrm>
          <a:prstGeom prst="rect">
            <a:avLst/>
          </a:prstGeom>
        </p:spPr>
      </p:pic>
      <p:pic>
        <p:nvPicPr>
          <p:cNvPr id="16" name="Icon briefcase" descr="briefca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965960"/>
            <a:ext cx="548640" cy="548640"/>
          </a:xfrm>
          <a:prstGeom prst="rect">
            <a:avLst/>
          </a:prstGeom>
        </p:spPr>
      </p:pic>
      <p:pic>
        <p:nvPicPr>
          <p:cNvPr id="17" name="Icon chart" descr="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703320"/>
            <a:ext cx="548640" cy="548640"/>
          </a:xfrm>
          <a:prstGeom prst="rect">
            <a:avLst/>
          </a:prstGeom>
        </p:spPr>
      </p:pic>
      <p:pic>
        <p:nvPicPr>
          <p:cNvPr id="18" name="Icon handshake" descr="handshak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370332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Career Opportunities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to Learn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basics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and cloud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agent frameworks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 and safety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8920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Roles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60020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Manager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Specialist</a:t>
            </a:r>
            <a:endParaRPr lang="en-US" sz="1500" dirty="0"/>
          </a:p>
        </p:txBody>
      </p:sp>
      <p:pic>
        <p:nvPicPr>
          <p:cNvPr id="9" name="Icon Skills" descr="Skil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566160"/>
            <a:ext cx="685800" cy="685800"/>
          </a:xfrm>
          <a:prstGeom prst="rect">
            <a:avLst/>
          </a:prstGeom>
        </p:spPr>
      </p:pic>
      <p:pic>
        <p:nvPicPr>
          <p:cNvPr id="10" name="Icon Careers" descr="Care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566160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9436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agents do simple tasks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1645920"/>
            <a:ext cx="320040" cy="0"/>
          </a:xfrm>
          <a:prstGeom prst="line">
            <a:avLst/>
          </a:prstGeom>
          <a:noFill/>
          <a:ln w="31750">
            <a:solidFill>
              <a:srgbClr val="0EA5A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60604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210312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74320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5603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agents work as a team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34840" y="1645920"/>
            <a:ext cx="320040" cy="0"/>
          </a:xfrm>
          <a:prstGeom prst="line">
            <a:avLst/>
          </a:prstGeom>
          <a:noFill/>
          <a:ln w="31750">
            <a:solidFill>
              <a:srgbClr val="0EA5A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475488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10312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489204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5603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whole business processes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0" y="1645920"/>
            <a:ext cx="320040" cy="0"/>
          </a:xfrm>
          <a:prstGeom prst="line">
            <a:avLst/>
          </a:prstGeom>
          <a:noFill/>
          <a:ln w="31750">
            <a:solidFill>
              <a:srgbClr val="0EA5A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903720" y="137160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90372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03720" y="210312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704088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25603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trusted personal AI helpers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safety checks and human control will grow along with the technology.</a:t>
            </a:r>
            <a:endParaRPr lang="en-US" sz="1500" dirty="0"/>
          </a:p>
        </p:txBody>
      </p:sp>
      <p:pic>
        <p:nvPicPr>
          <p:cNvPr id="27" name="Icon robot" descr="rob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246120"/>
            <a:ext cx="457200" cy="457200"/>
          </a:xfrm>
          <a:prstGeom prst="rect">
            <a:avLst/>
          </a:prstGeom>
        </p:spPr>
      </p:pic>
      <p:pic>
        <p:nvPicPr>
          <p:cNvPr id="28" name="Icon network" descr="netwo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246120"/>
            <a:ext cx="457200" cy="457200"/>
          </a:xfrm>
          <a:prstGeom prst="rect">
            <a:avLst/>
          </a:prstGeom>
        </p:spPr>
      </p:pic>
      <p:pic>
        <p:nvPicPr>
          <p:cNvPr id="29" name="Icon cogs" descr="cog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246120"/>
            <a:ext cx="457200" cy="457200"/>
          </a:xfrm>
          <a:prstGeom prst="rect">
            <a:avLst/>
          </a:prstGeom>
        </p:spPr>
      </p:pic>
      <p:pic>
        <p:nvPicPr>
          <p:cNvPr id="30" name="Icon handshake" descr="handshak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3246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moved from simple chatbots to smart, acting agents.</a:t>
            </a:r>
            <a:endParaRPr lang="en-US" sz="19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give the brain, Generative AI gives creativity, Agents give action.</a:t>
            </a:r>
            <a:endParaRPr lang="en-US" sz="19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can save time and cost in every industry.</a:t>
            </a:r>
            <a:endParaRPr lang="en-US" sz="19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must handle risks: mistakes, privacy and security.</a:t>
            </a:r>
            <a:endParaRPr lang="en-US" sz="190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is humans and AI working together.</a:t>
            </a:r>
            <a:endParaRPr lang="en-US" sz="1900" dirty="0">
              <a:solidFill>
                <a:schemeClr val="bg1"/>
              </a:solidFill>
            </a:endParaRPr>
          </a:p>
        </p:txBody>
      </p:sp>
      <p:pic>
        <p:nvPicPr>
          <p:cNvPr id="4" name="Icon Humans and AI" descr="Humans and A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0175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(2024). Building Effective Agents. anthropic.com/research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 (2017). Attention Is All You Need. arXiv:1706.03762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IBM. What is Agentic AI? ibm.com/think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Cloud. What are AI Agents? cloud.google.com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Klarna (2024). AI assistant press release. klarna.com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documentation. python.langchain.com</a:t>
            </a:r>
            <a:endParaRPr lang="en-US" sz="1500" dirty="0"/>
          </a:p>
        </p:txBody>
      </p:sp>
      <p:pic>
        <p:nvPicPr>
          <p:cNvPr id="4" name="Icon References" descr="Referenc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7432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0423DF-B420-8702-BE44-3AD126F03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629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13</TotalTime>
  <Words>908</Words>
  <Application>Microsoft Office PowerPoint</Application>
  <PresentationFormat>On-screen Show (16:9)</PresentationFormat>
  <Paragraphs>199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Krishnakant Pawan Jadhav</cp:lastModifiedBy>
  <cp:revision>2</cp:revision>
  <dcterms:created xsi:type="dcterms:W3CDTF">2026-09-30T04:35:10Z</dcterms:created>
  <dcterms:modified xsi:type="dcterms:W3CDTF">2026-09-30T05:48:21Z</dcterms:modified>
</cp:coreProperties>
</file>