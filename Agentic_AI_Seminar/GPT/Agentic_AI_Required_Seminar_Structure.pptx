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Topic reference: 15 Seminar Topics Diploma Computer Engineering, Group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Topic reference: 15 Seminar Topics Diploma Computer Engineering, Group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Anthropic, Building effective agents, https://www.anthropic.com/engineering/building-effective-agents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IBM, What are components of AI agents?, https://www.ibm.com/think/topics/components-of-ai-agents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IBM, What are components of AI agents?, https://www.ibm.com/think/topics/components-of-ai-agents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Anthropic, Building effective agents, https://www.anthropic.com/engineering/building-effective-agents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Case study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IBM, What are components of AI agents?, https://www.ibm.com/think/topics/components-of-ai-agents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Career examples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Anthropic, Building effective agents, https://www.anthropic.com/engineering/building-effective-agents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Anthropic, Building effective agents, https://www.anthropic.com/engineering/building-effective-agents (accessed 27 Sep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OpenAI, A practical guide to building AI agents, https://openai.com/business/guides-and-resources/a-practical-guide-to-building-ai-agents/ (accessed 27 Sep 2026).</a:t>
            </a:r>
          </a:p>
          <a:p>
            <a:r>
              <a:t>Source: Anthropic, Building effective agents, https://www.anthropic.com/engineering/building-effective-agents (accessed 27 Sep 2026).</a:t>
            </a:r>
          </a:p>
          <a:p>
            <a:r>
              <a:t>Source: IBM, What are components of AI agents?, https://www.ibm.com/think/topics/components-of-ai-agents (accessed 27 Sep 2026).</a:t>
            </a:r>
          </a:p>
          <a:p>
            <a:r>
              <a:t>Topic reference: 15 Seminar Topics Diploma Computer Engineering, Group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8BBD5BAC-D435-4756-A98A-C2EA4B66A50E}"/>
              </a:ext>
            </a:extLst>
          </p:cNvPr>
          <p:cNvSpPr>
            <a:spLocks noGrp="1"/>
          </p:cNvSpPr>
          <p:nvPr/>
        </p:nvSpPr>
        <p:spPr>
          <a:xfrm>
            <a:off x="8382000" y="714375"/>
            <a:ext cx="3429000" cy="34290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9C620A-446A-4C0A-A128-F97FDC17EA17}"/>
              </a:ext>
            </a:extLst>
          </p:cNvPr>
          <p:cNvSpPr>
            <a:spLocks noGrp="1"/>
          </p:cNvSpPr>
          <p:nvPr/>
        </p:nvSpPr>
        <p:spPr>
          <a:xfrm>
            <a:off x="9620250" y="2571750"/>
            <a:ext cx="2190750" cy="2190750"/>
          </a:xfrm>
          <a:prstGeom prst="ellipse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3B3550-CE96-4B8E-96ED-C910B924E50D}"/>
              </a:ext>
            </a:extLst>
          </p:cNvPr>
          <p:cNvSpPr>
            <a:spLocks noGrp="1"/>
          </p:cNvSpPr>
          <p:nvPr/>
        </p:nvSpPr>
        <p:spPr>
          <a:xfrm>
            <a:off x="9239250" y="1476375"/>
            <a:ext cx="21907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940308-255D-4DFA-8E52-24BDDB809178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6667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782"/>
          </a:bodyPr>
          <a:lstStyle/>
          <a:p>
            <a:pPr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Agentic 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67FCE8-D95B-4FA4-8360-B4DAE49A3CC7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6096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875" b="0">
                <a:solidFill>
                  <a:srgbClr val="D9EAF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AF1"/>
                </a:solidFill>
                <a:latin typeface="Arial"/>
                <a:ea typeface="Arial"/>
                <a:cs typeface="Arial"/>
              </a:rPr>
              <a:t>The Evolution from Chatbots to Autonomous AI Systems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751F71-F69A-4C9F-B423-66E7EB2AC9EC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6096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>
              <a:defRPr sz="1350" b="1">
                <a:solidFill>
                  <a:srgbClr val="32B7C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2B7C7"/>
                </a:solidFill>
                <a:latin typeface="Arial"/>
                <a:ea typeface="Arial"/>
                <a:cs typeface="Arial"/>
              </a:rPr>
              <a:t>Seminar Presentation | Diploma Computer Engineering</a:t>
            </a:r>
          </a:p>
        </p:txBody>
      </p:sp>
    </p:spTree>
    <p:extLst>
      <p:ext uri="{BB962C8B-B14F-4D97-AF65-F5344CB8AC3E}">
        <p14:creationId xmlns:p14="http://schemas.microsoft.com/office/powerpoint/2010/main" val="511364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D8B4565-BDE4-4BC6-B86F-884FBC14B0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EEC7BD-4FF5-4BBE-A149-BF491FBAB88B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Student Information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FA276DF7-76F8-433A-A682-35BEB1ACF1DF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86220-EE0A-4C6D-9949-31A931106554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5F59282-DA5D-4529-839E-B17E523CCF3D}"/>
              </a:ext>
            </a:extLst>
          </p:cNvPr>
          <p:cNvSpPr>
            <a:spLocks noGrp="1"/>
          </p:cNvSpPr>
          <p:nvPr/>
        </p:nvSpPr>
        <p:spPr>
          <a:xfrm>
            <a:off x="1524000" y="1762125"/>
            <a:ext cx="2571750" cy="400050"/>
          </a:xfrm>
          <a:prstGeom prst="roundRect">
            <a:avLst>
              <a:gd name="adj" fmla="val 3333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3848-14C5-43DC-8095-F335AA643D8D}"/>
              </a:ext>
            </a:extLst>
          </p:cNvPr>
          <p:cNvSpPr>
            <a:spLocks noGrp="1"/>
          </p:cNvSpPr>
          <p:nvPr/>
        </p:nvSpPr>
        <p:spPr>
          <a:xfrm>
            <a:off x="4572000" y="176212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Amaan, Moiz, Krishnakant </a:t>
            </a:r>
            <a:endParaRPr sz="1500" b="0" dirty="0">
              <a:solidFill>
                <a:srgbClr val="48658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70F5DB-AB3E-43AC-9D7F-2537F6421E1D}"/>
              </a:ext>
            </a:extLst>
          </p:cNvPr>
          <p:cNvSpPr>
            <a:spLocks noGrp="1"/>
          </p:cNvSpPr>
          <p:nvPr/>
        </p:nvSpPr>
        <p:spPr>
          <a:xfrm>
            <a:off x="1524000" y="2476500"/>
            <a:ext cx="2571750" cy="400050"/>
          </a:xfrm>
          <a:prstGeom prst="roundRect">
            <a:avLst>
              <a:gd name="adj" fmla="val 3333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Roll No.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44BD44-9E2D-4534-BAFE-FAA91F26379E}"/>
              </a:ext>
            </a:extLst>
          </p:cNvPr>
          <p:cNvSpPr>
            <a:spLocks noGrp="1"/>
          </p:cNvSpPr>
          <p:nvPr/>
        </p:nvSpPr>
        <p:spPr>
          <a:xfrm>
            <a:off x="4572000" y="2476500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486581"/>
                </a:solidFill>
                <a:latin typeface="Arial"/>
                <a:ea typeface="Arial"/>
                <a:cs typeface="Arial"/>
              </a:rPr>
              <a:t>01, 02, 30</a:t>
            </a:r>
            <a:endParaRPr sz="1500" b="0" dirty="0">
              <a:solidFill>
                <a:srgbClr val="48658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D1D2781-767C-4FE7-A5CE-EE19B9583B4C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2571750" cy="400050"/>
          </a:xfrm>
          <a:prstGeom prst="roundRect">
            <a:avLst>
              <a:gd name="adj" fmla="val 3333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Class /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524ADA-9682-4491-9D82-E3B5C51F9789}"/>
              </a:ext>
            </a:extLst>
          </p:cNvPr>
          <p:cNvSpPr>
            <a:spLocks noGrp="1"/>
          </p:cNvSpPr>
          <p:nvPr/>
        </p:nvSpPr>
        <p:spPr>
          <a:xfrm>
            <a:off x="4572000" y="31908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486581"/>
                </a:solidFill>
                <a:latin typeface="Arial"/>
                <a:ea typeface="Arial"/>
                <a:cs typeface="Arial"/>
              </a:rPr>
              <a:t>TYCO</a:t>
            </a:r>
            <a:endParaRPr sz="1500" b="0" dirty="0">
              <a:solidFill>
                <a:srgbClr val="48658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401C2B-7013-45CD-B663-70221E9CC2EE}"/>
              </a:ext>
            </a:extLst>
          </p:cNvPr>
          <p:cNvSpPr>
            <a:spLocks noGrp="1"/>
          </p:cNvSpPr>
          <p:nvPr/>
        </p:nvSpPr>
        <p:spPr>
          <a:xfrm>
            <a:off x="1524000" y="3905250"/>
            <a:ext cx="2571750" cy="400050"/>
          </a:xfrm>
          <a:prstGeom prst="roundRect">
            <a:avLst>
              <a:gd name="adj" fmla="val 3333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College / Institute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9AC8DC-9D8B-4B36-AB7E-369530761201}"/>
              </a:ext>
            </a:extLst>
          </p:cNvPr>
          <p:cNvSpPr>
            <a:spLocks noGrp="1"/>
          </p:cNvSpPr>
          <p:nvPr/>
        </p:nvSpPr>
        <p:spPr>
          <a:xfrm>
            <a:off x="4572000" y="3905250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486581"/>
                </a:solidFill>
                <a:latin typeface="Arial"/>
                <a:ea typeface="Arial"/>
                <a:cs typeface="Arial"/>
              </a:rPr>
              <a:t>MMANTC</a:t>
            </a:r>
            <a:endParaRPr sz="1500" b="0" dirty="0">
              <a:solidFill>
                <a:srgbClr val="48658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9F5128-B97E-455E-B07C-F331E5B02CBF}"/>
              </a:ext>
            </a:extLst>
          </p:cNvPr>
          <p:cNvSpPr>
            <a:spLocks noGrp="1"/>
          </p:cNvSpPr>
          <p:nvPr/>
        </p:nvSpPr>
        <p:spPr>
          <a:xfrm>
            <a:off x="1524000" y="4619625"/>
            <a:ext cx="2571750" cy="400050"/>
          </a:xfrm>
          <a:prstGeom prst="roundRect">
            <a:avLst>
              <a:gd name="adj" fmla="val 3333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Guide / Faculty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8A21B5-9ADF-4365-BE28-74653B5E84F5}"/>
              </a:ext>
            </a:extLst>
          </p:cNvPr>
          <p:cNvSpPr>
            <a:spLocks noGrp="1"/>
          </p:cNvSpPr>
          <p:nvPr/>
        </p:nvSpPr>
        <p:spPr>
          <a:xfrm>
            <a:off x="4572000" y="461962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486581"/>
                </a:solidFill>
                <a:latin typeface="Arial"/>
                <a:ea typeface="Arial"/>
                <a:cs typeface="Arial"/>
              </a:rPr>
              <a:t>Mr. </a:t>
            </a:r>
            <a:r>
              <a:rPr lang="en-US" sz="1500">
                <a:solidFill>
                  <a:srgbClr val="486581"/>
                </a:solidFill>
                <a:latin typeface="Arial"/>
                <a:ea typeface="Arial"/>
                <a:cs typeface="Arial"/>
              </a:rPr>
              <a:t>Faizee Razee</a:t>
            </a:r>
            <a:endParaRPr sz="1500" b="0">
              <a:solidFill>
                <a:srgbClr val="486581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2720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2DF08E3-42A1-40B0-817F-833AF1F31C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1B1820-42EB-47E2-9AB2-9094D0BB4F41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Introduction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975567-3CA8-4808-98F1-86DA70A01FAE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417"/>
          </a:bodyPr>
          <a:lstStyle/>
          <a:p>
            <a:pPr>
              <a:defRPr sz="12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What is Agentic AI?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F59C589C-5358-40DA-9A9A-1620204D99C0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ED11C-DD9B-40EE-9A9D-FDF40B81B54E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AF82BD1-B7C7-4445-912E-CD8ED7B33576}"/>
              </a:ext>
            </a:extLst>
          </p:cNvPr>
          <p:cNvSpPr>
            <a:spLocks noGrp="1"/>
          </p:cNvSpPr>
          <p:nvPr/>
        </p:nvSpPr>
        <p:spPr>
          <a:xfrm>
            <a:off x="876300" y="18573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69D6F1-BBC3-4CD6-943E-920A5055B3B8}"/>
              </a:ext>
            </a:extLst>
          </p:cNvPr>
          <p:cNvSpPr>
            <a:spLocks noGrp="1"/>
          </p:cNvSpPr>
          <p:nvPr/>
        </p:nvSpPr>
        <p:spPr>
          <a:xfrm>
            <a:off x="1571625" y="18192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Agentic AI refers to AI systems that pursue a goal through multiple steps.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BE727D-E24E-4AEF-B31E-D4FE0140C39F}"/>
              </a:ext>
            </a:extLst>
          </p:cNvPr>
          <p:cNvSpPr>
            <a:spLocks noGrp="1"/>
          </p:cNvSpPr>
          <p:nvPr/>
        </p:nvSpPr>
        <p:spPr>
          <a:xfrm>
            <a:off x="876300" y="26955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58DA8-CA3D-49D0-8F5F-861CDA34003F}"/>
              </a:ext>
            </a:extLst>
          </p:cNvPr>
          <p:cNvSpPr>
            <a:spLocks noGrp="1"/>
          </p:cNvSpPr>
          <p:nvPr/>
        </p:nvSpPr>
        <p:spPr>
          <a:xfrm>
            <a:off x="1571625" y="26574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It uses a language model to reason, choose actions and use approved tools.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86B9954-A42A-4C07-AD0F-818874DE7D82}"/>
              </a:ext>
            </a:extLst>
          </p:cNvPr>
          <p:cNvSpPr>
            <a:spLocks noGrp="1"/>
          </p:cNvSpPr>
          <p:nvPr/>
        </p:nvSpPr>
        <p:spPr>
          <a:xfrm>
            <a:off x="876300" y="35337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A6D653-7853-4D6C-BAE7-65F0096614DA}"/>
              </a:ext>
            </a:extLst>
          </p:cNvPr>
          <p:cNvSpPr>
            <a:spLocks noGrp="1"/>
          </p:cNvSpPr>
          <p:nvPr/>
        </p:nvSpPr>
        <p:spPr>
          <a:xfrm>
            <a:off x="1571625" y="34956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Unlike a basic chatbot, it can work through a task and report or escalate the result.</a:t>
            </a:r>
          </a:p>
        </p:txBody>
      </p:sp>
    </p:spTree>
    <p:extLst>
      <p:ext uri="{BB962C8B-B14F-4D97-AF65-F5344CB8AC3E}">
        <p14:creationId xmlns:p14="http://schemas.microsoft.com/office/powerpoint/2010/main" val="1959009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D85DF8C-837F-4221-8B9A-8F3D442FB6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045A26-F300-4F07-A9F2-99F48B788ED7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Background / Evolution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DB781B-3B40-496C-8547-F5C5F7DABFFA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417"/>
          </a:bodyPr>
          <a:lstStyle/>
          <a:p>
            <a:pPr>
              <a:defRPr sz="12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How AI moved from answers to assisted action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ACA492FF-B42A-493E-977E-B6C16FF8B794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F5C05D-093E-454A-89A6-93244DDC75C1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3D55C07-DB8E-4751-BE36-503840AB1106}"/>
              </a:ext>
            </a:extLst>
          </p:cNvPr>
          <p:cNvSpPr>
            <a:spLocks noGrp="1"/>
          </p:cNvSpPr>
          <p:nvPr/>
        </p:nvSpPr>
        <p:spPr>
          <a:xfrm>
            <a:off x="704850" y="2428875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Rule-based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bots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260A6EF-F9A2-4855-8653-DD7E0E32C6D0}"/>
              </a:ext>
            </a:extLst>
          </p:cNvPr>
          <p:cNvSpPr>
            <a:spLocks noGrp="1"/>
          </p:cNvSpPr>
          <p:nvPr/>
        </p:nvSpPr>
        <p:spPr>
          <a:xfrm>
            <a:off x="2943225" y="2428875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Chatbots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answer prompts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F54D79-D384-4153-A4D8-B64E0CA50CBB}"/>
              </a:ext>
            </a:extLst>
          </p:cNvPr>
          <p:cNvSpPr>
            <a:spLocks noGrp="1"/>
          </p:cNvSpPr>
          <p:nvPr/>
        </p:nvSpPr>
        <p:spPr>
          <a:xfrm>
            <a:off x="5181600" y="2428875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Copilots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assist users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B5DDDF3-2A13-43E7-BFE9-A5719EFC3D88}"/>
              </a:ext>
            </a:extLst>
          </p:cNvPr>
          <p:cNvSpPr>
            <a:spLocks noGrp="1"/>
          </p:cNvSpPr>
          <p:nvPr/>
        </p:nvSpPr>
        <p:spPr>
          <a:xfrm>
            <a:off x="7419975" y="2428875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Agents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complete tasks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6FF477-BC3D-46DB-A472-B06BDED91BE7}"/>
              </a:ext>
            </a:extLst>
          </p:cNvPr>
          <p:cNvSpPr>
            <a:spLocks noGrp="1"/>
          </p:cNvSpPr>
          <p:nvPr/>
        </p:nvSpPr>
        <p:spPr>
          <a:xfrm>
            <a:off x="9658350" y="2428875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D3E9D9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 fontScale="94881"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Autonomous systems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operate with limits</a:t>
            </a:r>
          </a:p>
        </p:txBody>
      </p:sp>
      <p:cxnSp>
        <p:nvCxnSpPr>
          <p:cNvPr id="26" name="Straight Arrow Connector 25"/>
          <p:cNvCxnSpPr>
            <a:stCxn id="7" idx="1"/>
            <a:endCxn id="6" idx="3"/>
          </p:cNvCxnSpPr>
          <p:nvPr/>
        </p:nvCxnSpPr>
        <p:spPr>
          <a:xfrm flipH="1">
            <a:off x="2419350" y="2838450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7" name="Straight Arrow Connector 26"/>
          <p:cNvCxnSpPr>
            <a:stCxn id="8" idx="1"/>
            <a:endCxn id="7" idx="3"/>
          </p:cNvCxnSpPr>
          <p:nvPr/>
        </p:nvCxnSpPr>
        <p:spPr>
          <a:xfrm flipH="1">
            <a:off x="4657725" y="2838450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8" name="Straight Arrow Connector 27"/>
          <p:cNvCxnSpPr>
            <a:stCxn id="9" idx="1"/>
            <a:endCxn id="8" idx="3"/>
          </p:cNvCxnSpPr>
          <p:nvPr/>
        </p:nvCxnSpPr>
        <p:spPr>
          <a:xfrm flipH="1">
            <a:off x="6896100" y="2838450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9" name="Straight Arrow Connector 28"/>
          <p:cNvCxnSpPr>
            <a:stCxn id="10" idx="1"/>
            <a:endCxn id="9" idx="3"/>
          </p:cNvCxnSpPr>
          <p:nvPr/>
        </p:nvCxnSpPr>
        <p:spPr>
          <a:xfrm flipH="1">
            <a:off x="9134475" y="2838450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5CAD0E1-76AC-4ED7-956D-299716A1EE0B}"/>
              </a:ext>
            </a:extLst>
          </p:cNvPr>
          <p:cNvSpPr>
            <a:spLocks noGrp="1"/>
          </p:cNvSpPr>
          <p:nvPr/>
        </p:nvSpPr>
        <p:spPr>
          <a:xfrm>
            <a:off x="1238250" y="4572000"/>
            <a:ext cx="9525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Progress came from stronger language models, tool calling, retrieval systems and better safeguards.</a:t>
            </a:r>
          </a:p>
        </p:txBody>
      </p:sp>
    </p:spTree>
    <p:extLst>
      <p:ext uri="{BB962C8B-B14F-4D97-AF65-F5344CB8AC3E}">
        <p14:creationId xmlns:p14="http://schemas.microsoft.com/office/powerpoint/2010/main" val="1345434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03304AB-F231-491A-8D1E-8F776FDD2A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23869A-9A44-4340-9AA0-0A41D7F4E84D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Need for the Technology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1C47C7-D37A-4FCC-944E-1CD35D45CCE9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417"/>
          </a:bodyPr>
          <a:lstStyle/>
          <a:p>
            <a:pPr>
              <a:defRPr sz="12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Why agentic systems emerged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F1BE38BF-3F57-44BF-A7C0-24C7733300B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20F90A-EF9E-43FB-B128-6B9490BD05AD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6FF4753-701E-4933-B2E8-DC2A5B566B78}"/>
              </a:ext>
            </a:extLst>
          </p:cNvPr>
          <p:cNvSpPr>
            <a:spLocks noGrp="1"/>
          </p:cNvSpPr>
          <p:nvPr/>
        </p:nvSpPr>
        <p:spPr>
          <a:xfrm>
            <a:off x="876300" y="18573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B6B6FC-5D6F-4393-8273-9C02EDD427B7}"/>
              </a:ext>
            </a:extLst>
          </p:cNvPr>
          <p:cNvSpPr>
            <a:spLocks noGrp="1"/>
          </p:cNvSpPr>
          <p:nvPr/>
        </p:nvSpPr>
        <p:spPr>
          <a:xfrm>
            <a:off x="1571625" y="18192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Many business tasks involve several applications, documents and decisions.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A9DB17-F9A0-40A1-9CA8-04FD7D76DBAD}"/>
              </a:ext>
            </a:extLst>
          </p:cNvPr>
          <p:cNvSpPr>
            <a:spLocks noGrp="1"/>
          </p:cNvSpPr>
          <p:nvPr/>
        </p:nvSpPr>
        <p:spPr>
          <a:xfrm>
            <a:off x="876300" y="26955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4C86FC-7103-4994-98B1-69829709F3E0}"/>
              </a:ext>
            </a:extLst>
          </p:cNvPr>
          <p:cNvSpPr>
            <a:spLocks noGrp="1"/>
          </p:cNvSpPr>
          <p:nvPr/>
        </p:nvSpPr>
        <p:spPr>
          <a:xfrm>
            <a:off x="1571625" y="26574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Rule-based automation becomes difficult to maintain when cases contain exceptions.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79F656C-8DD8-4EEC-B878-065930F79D25}"/>
              </a:ext>
            </a:extLst>
          </p:cNvPr>
          <p:cNvSpPr>
            <a:spLocks noGrp="1"/>
          </p:cNvSpPr>
          <p:nvPr/>
        </p:nvSpPr>
        <p:spPr>
          <a:xfrm>
            <a:off x="876300" y="35337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7289D9-6EF0-461E-803F-1A8C96092BF2}"/>
              </a:ext>
            </a:extLst>
          </p:cNvPr>
          <p:cNvSpPr>
            <a:spLocks noGrp="1"/>
          </p:cNvSpPr>
          <p:nvPr/>
        </p:nvSpPr>
        <p:spPr>
          <a:xfrm>
            <a:off x="1571625" y="34956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People need systems that can interpret natural-language requests while staying within approved limits.</a:t>
            </a:r>
          </a:p>
        </p:txBody>
      </p:sp>
    </p:spTree>
    <p:extLst>
      <p:ext uri="{BB962C8B-B14F-4D97-AF65-F5344CB8AC3E}">
        <p14:creationId xmlns:p14="http://schemas.microsoft.com/office/powerpoint/2010/main" val="1050262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01D7694-902C-403C-819C-D19A24F0A8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F604CB-5E18-4BF5-B1C0-7D52BA928344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Basic Concepts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083B01D-F02A-48F1-86FE-31FA1A87CFDC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1153AC-5018-4B1E-91E7-6DB74E7F1BF5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6C8BA7-BB3F-448C-B1FA-DFF33F9CBBE7}"/>
              </a:ext>
            </a:extLst>
          </p:cNvPr>
          <p:cNvSpPr>
            <a:spLocks noGrp="1"/>
          </p:cNvSpPr>
          <p:nvPr/>
        </p:nvSpPr>
        <p:spPr>
          <a:xfrm>
            <a:off x="952500" y="1714500"/>
            <a:ext cx="2571750" cy="552450"/>
          </a:xfrm>
          <a:prstGeom prst="roundRect">
            <a:avLst>
              <a:gd name="adj" fmla="val 27586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Goal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25EA66-861B-4691-B272-EF79DE6C7F40}"/>
              </a:ext>
            </a:extLst>
          </p:cNvPr>
          <p:cNvSpPr>
            <a:spLocks noGrp="1"/>
          </p:cNvSpPr>
          <p:nvPr/>
        </p:nvSpPr>
        <p:spPr>
          <a:xfrm>
            <a:off x="4048125" y="1762125"/>
            <a:ext cx="6572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The outcome the agent tries to achieve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EBF36FD-6FEA-4E03-BD09-DAA5ED8B0027}"/>
              </a:ext>
            </a:extLst>
          </p:cNvPr>
          <p:cNvSpPr>
            <a:spLocks noGrp="1"/>
          </p:cNvSpPr>
          <p:nvPr/>
        </p:nvSpPr>
        <p:spPr>
          <a:xfrm>
            <a:off x="952500" y="2667000"/>
            <a:ext cx="2571750" cy="552450"/>
          </a:xfrm>
          <a:prstGeom prst="roundRect">
            <a:avLst>
              <a:gd name="adj" fmla="val 27586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Tool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BA0C4-6D9A-4141-8713-186D606EC039}"/>
              </a:ext>
            </a:extLst>
          </p:cNvPr>
          <p:cNvSpPr>
            <a:spLocks noGrp="1"/>
          </p:cNvSpPr>
          <p:nvPr/>
        </p:nvSpPr>
        <p:spPr>
          <a:xfrm>
            <a:off x="4048125" y="2714625"/>
            <a:ext cx="6572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An API, database, search service or application action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3AC78E-DB26-4EA2-B872-F1A58C5D10E6}"/>
              </a:ext>
            </a:extLst>
          </p:cNvPr>
          <p:cNvSpPr>
            <a:spLocks noGrp="1"/>
          </p:cNvSpPr>
          <p:nvPr/>
        </p:nvSpPr>
        <p:spPr>
          <a:xfrm>
            <a:off x="952500" y="3619500"/>
            <a:ext cx="2571750" cy="552450"/>
          </a:xfrm>
          <a:prstGeom prst="roundRect">
            <a:avLst>
              <a:gd name="adj" fmla="val 27586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596A99-D86D-4483-A059-194E34695651}"/>
              </a:ext>
            </a:extLst>
          </p:cNvPr>
          <p:cNvSpPr>
            <a:spLocks noGrp="1"/>
          </p:cNvSpPr>
          <p:nvPr/>
        </p:nvSpPr>
        <p:spPr>
          <a:xfrm>
            <a:off x="4048125" y="3667125"/>
            <a:ext cx="6572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Stored context that helps the agent use prior information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37EB601-9B2A-485E-94E1-8EB8C1A68044}"/>
              </a:ext>
            </a:extLst>
          </p:cNvPr>
          <p:cNvSpPr>
            <a:spLocks noGrp="1"/>
          </p:cNvSpPr>
          <p:nvPr/>
        </p:nvSpPr>
        <p:spPr>
          <a:xfrm>
            <a:off x="952500" y="4572000"/>
            <a:ext cx="2571750" cy="552450"/>
          </a:xfrm>
          <a:prstGeom prst="roundRect">
            <a:avLst>
              <a:gd name="adj" fmla="val 27586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Guardrail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CBE812-CBBA-45D2-9AA0-B3BEF14A19B1}"/>
              </a:ext>
            </a:extLst>
          </p:cNvPr>
          <p:cNvSpPr>
            <a:spLocks noGrp="1"/>
          </p:cNvSpPr>
          <p:nvPr/>
        </p:nvSpPr>
        <p:spPr>
          <a:xfrm>
            <a:off x="4048125" y="4619625"/>
            <a:ext cx="6572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 rule that limits actions or requires human review</a:t>
            </a:r>
          </a:p>
        </p:txBody>
      </p:sp>
    </p:spTree>
    <p:extLst>
      <p:ext uri="{BB962C8B-B14F-4D97-AF65-F5344CB8AC3E}">
        <p14:creationId xmlns:p14="http://schemas.microsoft.com/office/powerpoint/2010/main" val="282173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9A8D53D-FFDA-4C59-8585-DE6C690F6F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6E36F6-DCE4-4353-83C1-FAB651F0ED8D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Working /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6DBCC1-88CE-458C-B02A-8606D8B32396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417"/>
          </a:bodyPr>
          <a:lstStyle/>
          <a:p>
            <a:pPr>
              <a:defRPr sz="12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 controlled agent works in a repeatable loop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2166621B-0EDC-4784-A786-2C1D7164274E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712593-1055-437D-8C59-31CC98FDBC6E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F7F99E5-86CD-46F3-B71D-50A7B18C7996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Understand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goal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BB0BB6-6E78-4973-ABDC-2BEF6A17EB47}"/>
              </a:ext>
            </a:extLst>
          </p:cNvPr>
          <p:cNvSpPr>
            <a:spLocks noGrp="1"/>
          </p:cNvSpPr>
          <p:nvPr/>
        </p:nvSpPr>
        <p:spPr>
          <a:xfrm>
            <a:off x="2943225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Plan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next step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1127B7B-C5B8-43B4-A15F-9BB0C98BB66E}"/>
              </a:ext>
            </a:extLst>
          </p:cNvPr>
          <p:cNvSpPr>
            <a:spLocks noGrp="1"/>
          </p:cNvSpPr>
          <p:nvPr/>
        </p:nvSpPr>
        <p:spPr>
          <a:xfrm>
            <a:off x="5181600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a tool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or retrieve data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46B8CF-BACD-4FD9-A5DF-F86536D5D41D}"/>
              </a:ext>
            </a:extLst>
          </p:cNvPr>
          <p:cNvSpPr>
            <a:spLocks noGrp="1"/>
          </p:cNvSpPr>
          <p:nvPr/>
        </p:nvSpPr>
        <p:spPr>
          <a:xfrm>
            <a:off x="7419975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Check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result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106B0F-D712-49B5-95C8-401A89EC4571}"/>
              </a:ext>
            </a:extLst>
          </p:cNvPr>
          <p:cNvSpPr>
            <a:spLocks noGrp="1"/>
          </p:cNvSpPr>
          <p:nvPr/>
        </p:nvSpPr>
        <p:spPr>
          <a:xfrm>
            <a:off x="9658350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D3E9D9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Respond or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escalate</a:t>
            </a:r>
          </a:p>
        </p:txBody>
      </p:sp>
      <p:cxnSp>
        <p:nvCxnSpPr>
          <p:cNvPr id="26" name="Straight Arrow Connector 25"/>
          <p:cNvCxnSpPr>
            <a:stCxn id="7" idx="1"/>
            <a:endCxn id="6" idx="3"/>
          </p:cNvCxnSpPr>
          <p:nvPr/>
        </p:nvCxnSpPr>
        <p:spPr>
          <a:xfrm flipH="1">
            <a:off x="2419350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7" name="Straight Arrow Connector 26"/>
          <p:cNvCxnSpPr>
            <a:stCxn id="8" idx="1"/>
            <a:endCxn id="7" idx="3"/>
          </p:cNvCxnSpPr>
          <p:nvPr/>
        </p:nvCxnSpPr>
        <p:spPr>
          <a:xfrm flipH="1">
            <a:off x="4657725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8" name="Straight Arrow Connector 27"/>
          <p:cNvCxnSpPr>
            <a:stCxn id="9" idx="1"/>
            <a:endCxn id="8" idx="3"/>
          </p:cNvCxnSpPr>
          <p:nvPr/>
        </p:nvCxnSpPr>
        <p:spPr>
          <a:xfrm flipH="1">
            <a:off x="6896100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9" name="Straight Arrow Connector 28"/>
          <p:cNvCxnSpPr>
            <a:stCxn id="10" idx="1"/>
            <a:endCxn id="9" idx="3"/>
          </p:cNvCxnSpPr>
          <p:nvPr/>
        </p:nvCxnSpPr>
        <p:spPr>
          <a:xfrm flipH="1">
            <a:off x="9134475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FBCB8910-B5B3-4C1B-943C-B96C7DA724F8}"/>
              </a:ext>
            </a:extLst>
          </p:cNvPr>
          <p:cNvSpPr>
            <a:spLocks noGrp="1"/>
          </p:cNvSpPr>
          <p:nvPr/>
        </p:nvSpPr>
        <p:spPr>
          <a:xfrm>
            <a:off x="1381125" y="4524375"/>
            <a:ext cx="94297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agent stops when it completes the task, reaches a limit, or needs a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1736670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6F672C1-7F4C-4077-B566-8CA6F7DE21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05232A-9BA9-4DC4-8E3C-AA6C22BACCBA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Components / Technologies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60C0A41-6FB7-4205-8C0A-E1A783FEEBF7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1AB215-86E1-45B7-86C1-C67E32D7452A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7E9422B-2F30-45FE-993E-0F11B6998F90}"/>
              </a:ext>
            </a:extLst>
          </p:cNvPr>
          <p:cNvSpPr>
            <a:spLocks noGrp="1"/>
          </p:cNvSpPr>
          <p:nvPr/>
        </p:nvSpPr>
        <p:spPr>
          <a:xfrm>
            <a:off x="876300" y="1571625"/>
            <a:ext cx="3429000" cy="495300"/>
          </a:xfrm>
          <a:prstGeom prst="roundRect">
            <a:avLst>
              <a:gd name="adj" fmla="val 2692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Generative AI and LLMs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DBEF55-2ED3-4C94-B5CF-A86D96A22C2D}"/>
              </a:ext>
            </a:extLst>
          </p:cNvPr>
          <p:cNvSpPr>
            <a:spLocks noGrp="1"/>
          </p:cNvSpPr>
          <p:nvPr/>
        </p:nvSpPr>
        <p:spPr>
          <a:xfrm>
            <a:off x="4762500" y="16002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Interpret requests and generate structured reasoning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D48E2E3-9156-401A-9CF5-44CB164EDC78}"/>
              </a:ext>
            </a:extLst>
          </p:cNvPr>
          <p:cNvSpPr>
            <a:spLocks noGrp="1"/>
          </p:cNvSpPr>
          <p:nvPr/>
        </p:nvSpPr>
        <p:spPr>
          <a:xfrm>
            <a:off x="876300" y="2314575"/>
            <a:ext cx="3429000" cy="495300"/>
          </a:xfrm>
          <a:prstGeom prst="roundRect">
            <a:avLst>
              <a:gd name="adj" fmla="val 26923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AI agents and orchestration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E8EFAA-11D8-4FB5-8E18-F2528C995243}"/>
              </a:ext>
            </a:extLst>
          </p:cNvPr>
          <p:cNvSpPr>
            <a:spLocks noGrp="1"/>
          </p:cNvSpPr>
          <p:nvPr/>
        </p:nvSpPr>
        <p:spPr>
          <a:xfrm>
            <a:off x="4762500" y="23431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Manage the task loop and coordinate specialist agents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FF99D5-CB74-4DC9-AEE3-F53B68A04E95}"/>
              </a:ext>
            </a:extLst>
          </p:cNvPr>
          <p:cNvSpPr>
            <a:spLocks noGrp="1"/>
          </p:cNvSpPr>
          <p:nvPr/>
        </p:nvSpPr>
        <p:spPr>
          <a:xfrm>
            <a:off x="876300" y="3057525"/>
            <a:ext cx="3429000" cy="495300"/>
          </a:xfrm>
          <a:prstGeom prst="roundRect">
            <a:avLst>
              <a:gd name="adj" fmla="val 2692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Tools and APIs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4CDEC8-5D65-43F4-9E25-B68F0FF3EE54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Retrieve data and perform approved actions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5EACC6-088E-4E5B-B3D0-658F63D89F07}"/>
              </a:ext>
            </a:extLst>
          </p:cNvPr>
          <p:cNvSpPr>
            <a:spLocks noGrp="1"/>
          </p:cNvSpPr>
          <p:nvPr/>
        </p:nvSpPr>
        <p:spPr>
          <a:xfrm>
            <a:off x="876300" y="3800475"/>
            <a:ext cx="3429000" cy="495300"/>
          </a:xfrm>
          <a:prstGeom prst="roundRect">
            <a:avLst>
              <a:gd name="adj" fmla="val 26923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Knowledge retrieval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9DA9CB-6B19-4284-9A9A-96BAE4904A58}"/>
              </a:ext>
            </a:extLst>
          </p:cNvPr>
          <p:cNvSpPr>
            <a:spLocks noGrp="1"/>
          </p:cNvSpPr>
          <p:nvPr/>
        </p:nvSpPr>
        <p:spPr>
          <a:xfrm>
            <a:off x="4762500" y="38290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Find relevant documents and current context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774FB25-86A6-4F23-A08C-73AC4FF19219}"/>
              </a:ext>
            </a:extLst>
          </p:cNvPr>
          <p:cNvSpPr>
            <a:spLocks noGrp="1"/>
          </p:cNvSpPr>
          <p:nvPr/>
        </p:nvSpPr>
        <p:spPr>
          <a:xfrm>
            <a:off x="876300" y="4543425"/>
            <a:ext cx="3429000" cy="495300"/>
          </a:xfrm>
          <a:prstGeom prst="roundRect">
            <a:avLst>
              <a:gd name="adj" fmla="val 2692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Guardrails and evaluation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544E65-7CE6-42C5-89B7-4E150A50928A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Check quality, safety and reliability</a:t>
            </a:r>
          </a:p>
        </p:txBody>
      </p:sp>
    </p:spTree>
    <p:extLst>
      <p:ext uri="{BB962C8B-B14F-4D97-AF65-F5344CB8AC3E}">
        <p14:creationId xmlns:p14="http://schemas.microsoft.com/office/powerpoint/2010/main" val="1352267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7ECFFD4-85FF-4C51-B7AA-B0BCDE7438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EC3D6B-6D4A-4F80-93C3-09F206662FA7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Industry Applications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52EC5690-F6D1-49C9-8FB0-C5723DA69CDA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E8818D-42D8-46D2-BB49-02416CB4F886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02F41F-2ED0-4F19-BBE3-878B88B2BBE6}"/>
              </a:ext>
            </a:extLst>
          </p:cNvPr>
          <p:cNvSpPr>
            <a:spLocks noGrp="1"/>
          </p:cNvSpPr>
          <p:nvPr/>
        </p:nvSpPr>
        <p:spPr>
          <a:xfrm>
            <a:off x="809625" y="2238375"/>
            <a:ext cx="2857500" cy="628650"/>
          </a:xfrm>
          <a:prstGeom prst="roundRect">
            <a:avLst>
              <a:gd name="adj" fmla="val 2727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7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Customer support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8715F2-CEEA-4A5B-B73A-6102B09CF374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27622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Reads account context and resolves routine requests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CBA6CC0-3605-48B1-8F63-4E2B0632A619}"/>
              </a:ext>
            </a:extLst>
          </p:cNvPr>
          <p:cNvSpPr>
            <a:spLocks noGrp="1"/>
          </p:cNvSpPr>
          <p:nvPr/>
        </p:nvSpPr>
        <p:spPr>
          <a:xfrm>
            <a:off x="4381500" y="2238375"/>
            <a:ext cx="2857500" cy="628650"/>
          </a:xfrm>
          <a:prstGeom prst="roundRect">
            <a:avLst>
              <a:gd name="adj" fmla="val 27273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7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0FA69B-67AF-457C-8A2E-55AF750F8D0F}"/>
              </a:ext>
            </a:extLst>
          </p:cNvPr>
          <p:cNvSpPr>
            <a:spLocks noGrp="1"/>
          </p:cNvSpPr>
          <p:nvPr/>
        </p:nvSpPr>
        <p:spPr>
          <a:xfrm>
            <a:off x="4429125" y="3143250"/>
            <a:ext cx="27622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Helps with code tasks, tests and documentation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547B3B-E7D8-4CD9-8E9E-D7FF14CEFC77}"/>
              </a:ext>
            </a:extLst>
          </p:cNvPr>
          <p:cNvSpPr>
            <a:spLocks noGrp="1"/>
          </p:cNvSpPr>
          <p:nvPr/>
        </p:nvSpPr>
        <p:spPr>
          <a:xfrm>
            <a:off x="7953375" y="2238375"/>
            <a:ext cx="2857500" cy="628650"/>
          </a:xfrm>
          <a:prstGeom prst="roundRect">
            <a:avLst>
              <a:gd name="adj" fmla="val 27273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575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CBAFB6-EC7C-4FEA-AD36-9C5094AA740B}"/>
              </a:ext>
            </a:extLst>
          </p:cNvPr>
          <p:cNvSpPr>
            <a:spLocks noGrp="1"/>
          </p:cNvSpPr>
          <p:nvPr/>
        </p:nvSpPr>
        <p:spPr>
          <a:xfrm>
            <a:off x="8001000" y="3143250"/>
            <a:ext cx="27622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Checks records, creates reports and routes exceptions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1A555E-D3F0-4717-95F9-C179F44BCB5F}"/>
              </a:ext>
            </a:extLst>
          </p:cNvPr>
          <p:cNvSpPr>
            <a:spLocks noGrp="1"/>
          </p:cNvSpPr>
          <p:nvPr/>
        </p:nvSpPr>
        <p:spPr>
          <a:xfrm>
            <a:off x="1619250" y="5095875"/>
            <a:ext cx="8953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Other uses include research assistance, document processing, IT support and scheduling.</a:t>
            </a:r>
          </a:p>
        </p:txBody>
      </p:sp>
    </p:spTree>
    <p:extLst>
      <p:ext uri="{BB962C8B-B14F-4D97-AF65-F5344CB8AC3E}">
        <p14:creationId xmlns:p14="http://schemas.microsoft.com/office/powerpoint/2010/main" val="69422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F2FCA1F-8604-43CB-BC15-965DBCC2A3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274563-A41E-4F8C-AC2D-6F0554CB7ABF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Real-World Case Study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E8E4E7-B0B6-45EF-ABE1-2B90E05A3ACF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417"/>
          </a:bodyPr>
          <a:lstStyle/>
          <a:p>
            <a:pPr>
              <a:defRPr sz="120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Customer support agent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FE78630B-0691-4B41-9011-E86F7A3B7FFE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EC9D61-4C6B-4E5D-84D4-4B532ED6A202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B71370F-CC01-471B-A93F-BB9B8C7E90FD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Customer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request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C2123B9-CF48-495A-8F6E-9F3FAA2BBEEE}"/>
              </a:ext>
            </a:extLst>
          </p:cNvPr>
          <p:cNvSpPr>
            <a:spLocks noGrp="1"/>
          </p:cNvSpPr>
          <p:nvPr/>
        </p:nvSpPr>
        <p:spPr>
          <a:xfrm>
            <a:off x="2943225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Read policy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and account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3EDEE2-C2A3-4548-A090-B15ED5AF9005}"/>
              </a:ext>
            </a:extLst>
          </p:cNvPr>
          <p:cNvSpPr>
            <a:spLocks noGrp="1"/>
          </p:cNvSpPr>
          <p:nvPr/>
        </p:nvSpPr>
        <p:spPr>
          <a:xfrm>
            <a:off x="5181600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approved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tool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507B842-AC07-46E2-8518-3168CFFC48A5}"/>
              </a:ext>
            </a:extLst>
          </p:cNvPr>
          <p:cNvSpPr>
            <a:spLocks noGrp="1"/>
          </p:cNvSpPr>
          <p:nvPr/>
        </p:nvSpPr>
        <p:spPr>
          <a:xfrm>
            <a:off x="7419975" y="2476500"/>
            <a:ext cx="1714500" cy="819150"/>
          </a:xfrm>
          <a:prstGeom prst="roundRect">
            <a:avLst>
              <a:gd name="adj" fmla="val 20930"/>
            </a:avLst>
          </a:prstGeom>
          <a:solidFill>
            <a:srgbClr val="D3E9D9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Confirm result</a:t>
            </a:r>
          </a:p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or hand off</a:t>
            </a:r>
          </a:p>
        </p:txBody>
      </p:sp>
      <p:cxnSp>
        <p:nvCxnSpPr>
          <p:cNvPr id="23" name="Straight Arrow Connector 22"/>
          <p:cNvCxnSpPr>
            <a:stCxn id="7" idx="1"/>
            <a:endCxn id="6" idx="3"/>
          </p:cNvCxnSpPr>
          <p:nvPr/>
        </p:nvCxnSpPr>
        <p:spPr>
          <a:xfrm flipH="1">
            <a:off x="2419350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4" name="Straight Arrow Connector 23"/>
          <p:cNvCxnSpPr>
            <a:stCxn id="8" idx="1"/>
            <a:endCxn id="7" idx="3"/>
          </p:cNvCxnSpPr>
          <p:nvPr/>
        </p:nvCxnSpPr>
        <p:spPr>
          <a:xfrm flipH="1">
            <a:off x="4657725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cxnSp>
        <p:nvCxnSpPr>
          <p:cNvPr id="25" name="Straight Arrow Connector 24"/>
          <p:cNvCxnSpPr>
            <a:stCxn id="9" idx="1"/>
            <a:endCxn id="8" idx="3"/>
          </p:cNvCxnSpPr>
          <p:nvPr/>
        </p:nvCxnSpPr>
        <p:spPr>
          <a:xfrm flipH="1">
            <a:off x="6896100" y="2886075"/>
            <a:ext cx="523875" cy="0"/>
          </a:xfrm>
          <a:prstGeom prst="straightConnector1">
            <a:avLst/>
          </a:prstGeom>
          <a:ln w="28575">
            <a:solidFill>
              <a:srgbClr val="1E5AA8"/>
            </a:solidFill>
            <a:prstDash val="solid"/>
            <a:headEnd type="triangle" w="med" len="med"/>
          </a:ln>
        </p:spPr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63122DF-B391-4C59-8051-16847DD48685}"/>
              </a:ext>
            </a:extLst>
          </p:cNvPr>
          <p:cNvSpPr>
            <a:spLocks noGrp="1"/>
          </p:cNvSpPr>
          <p:nvPr/>
        </p:nvSpPr>
        <p:spPr>
          <a:xfrm>
            <a:off x="1238250" y="4476750"/>
            <a:ext cx="9620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Example: A support agent can check order status or reset a password. It should hand off payment disputes and other sensitive cases to a person.</a:t>
            </a:r>
          </a:p>
        </p:txBody>
      </p:sp>
    </p:spTree>
    <p:extLst>
      <p:ext uri="{BB962C8B-B14F-4D97-AF65-F5344CB8AC3E}">
        <p14:creationId xmlns:p14="http://schemas.microsoft.com/office/powerpoint/2010/main" val="2020283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3279762-7960-4162-935B-519429FE6E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9A2428-5A05-4312-9499-0CA116304BA7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Advantages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317A2BF3-62A1-4CCB-A3A6-159554110E58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A0F96F-0376-4107-9EE8-5403379676FB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8FD560-AEB3-4D5E-BB8D-7D6B1AB454B2}"/>
              </a:ext>
            </a:extLst>
          </p:cNvPr>
          <p:cNvSpPr>
            <a:spLocks noGrp="1"/>
          </p:cNvSpPr>
          <p:nvPr/>
        </p:nvSpPr>
        <p:spPr>
          <a:xfrm>
            <a:off x="876300" y="16668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2897F4-514D-4161-AA1A-0E1C58E7AC4E}"/>
              </a:ext>
            </a:extLst>
          </p:cNvPr>
          <p:cNvSpPr>
            <a:spLocks noGrp="1"/>
          </p:cNvSpPr>
          <p:nvPr/>
        </p:nvSpPr>
        <p:spPr>
          <a:xfrm>
            <a:off x="1571625" y="16287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Faster service for routine, multi-step requests.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24EBF4-27C6-4E31-AE19-062E5D0068DB}"/>
              </a:ext>
            </a:extLst>
          </p:cNvPr>
          <p:cNvSpPr>
            <a:spLocks noGrp="1"/>
          </p:cNvSpPr>
          <p:nvPr/>
        </p:nvSpPr>
        <p:spPr>
          <a:xfrm>
            <a:off x="876300" y="25050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7A8B12-F06E-4813-A53D-F3EF32C34A9B}"/>
              </a:ext>
            </a:extLst>
          </p:cNvPr>
          <p:cNvSpPr>
            <a:spLocks noGrp="1"/>
          </p:cNvSpPr>
          <p:nvPr/>
        </p:nvSpPr>
        <p:spPr>
          <a:xfrm>
            <a:off x="1571625" y="24669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More consistent use of approved procedures and documentation.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5FA72B-1200-49C6-9AC5-0C4ED2998C2D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60DBBC-54D4-445B-8292-73525166DA93}"/>
              </a:ext>
            </a:extLst>
          </p:cNvPr>
          <p:cNvSpPr>
            <a:spLocks noGrp="1"/>
          </p:cNvSpPr>
          <p:nvPr/>
        </p:nvSpPr>
        <p:spPr>
          <a:xfrm>
            <a:off x="1571625" y="33051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Better use of context from connected systems.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8FB4D20-E6A4-48CE-9A05-64FB9413D583}"/>
              </a:ext>
            </a:extLst>
          </p:cNvPr>
          <p:cNvSpPr>
            <a:spLocks noGrp="1"/>
          </p:cNvSpPr>
          <p:nvPr/>
        </p:nvSpPr>
        <p:spPr>
          <a:xfrm>
            <a:off x="876300" y="41814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174FCE-76D8-4A1C-9C0D-FD75230D6D5D}"/>
              </a:ext>
            </a:extLst>
          </p:cNvPr>
          <p:cNvSpPr>
            <a:spLocks noGrp="1"/>
          </p:cNvSpPr>
          <p:nvPr/>
        </p:nvSpPr>
        <p:spPr>
          <a:xfrm>
            <a:off x="1571625" y="41433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Human staff can focus on complex, sensitive or exceptional cases.</a:t>
            </a:r>
          </a:p>
        </p:txBody>
      </p:sp>
    </p:spTree>
    <p:extLst>
      <p:ext uri="{BB962C8B-B14F-4D97-AF65-F5344CB8AC3E}">
        <p14:creationId xmlns:p14="http://schemas.microsoft.com/office/powerpoint/2010/main" val="699531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49006EC-2F70-4A56-AF0B-A5D0CF0EB7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F76655-E487-48D3-9D67-03F4460F4050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Limitations / Challenges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613C50D-255C-45EE-95D3-28657B27B143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10D860-8CD4-4809-9B86-C5352C42FAF8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7DAD7D-2E8E-468E-AB66-F96C6278E956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2952750" cy="571500"/>
          </a:xfrm>
          <a:prstGeom prst="roundRect">
            <a:avLst>
              <a:gd name="adj" fmla="val 26667"/>
            </a:avLst>
          </a:prstGeom>
          <a:solidFill>
            <a:srgbClr val="FDE9E7"/>
          </a:solidFill>
          <a:ln w="9525">
            <a:solidFill>
              <a:srgbClr val="F3B0A9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C4453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C44536"/>
                </a:solidFill>
                <a:latin typeface="Arial"/>
                <a:ea typeface="Arial"/>
                <a:cs typeface="Arial"/>
              </a:rPr>
              <a:t>Incorrect action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023DCD0-2CC9-49AB-8CF9-1412E28DE99F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6667500" cy="571500"/>
          </a:xfrm>
          <a:prstGeom prst="roundRect">
            <a:avLst>
              <a:gd name="adj" fmla="val 26667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agent may misunderstand a request or select the wrong tool.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83B9ED-BF28-4CC3-93E6-5ED564812017}"/>
              </a:ext>
            </a:extLst>
          </p:cNvPr>
          <p:cNvSpPr>
            <a:spLocks noGrp="1"/>
          </p:cNvSpPr>
          <p:nvPr/>
        </p:nvSpPr>
        <p:spPr>
          <a:xfrm>
            <a:off x="857250" y="2667000"/>
            <a:ext cx="2952750" cy="571500"/>
          </a:xfrm>
          <a:prstGeom prst="roundRect">
            <a:avLst>
              <a:gd name="adj" fmla="val 26667"/>
            </a:avLst>
          </a:prstGeom>
          <a:solidFill>
            <a:srgbClr val="FDE9E7"/>
          </a:solidFill>
          <a:ln w="9525">
            <a:solidFill>
              <a:srgbClr val="F3B0A9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C4453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C44536"/>
                </a:solidFill>
                <a:latin typeface="Arial"/>
                <a:ea typeface="Arial"/>
                <a:cs typeface="Arial"/>
              </a:rPr>
              <a:t>Data exposure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3EF4C9C-1DA3-4579-B952-D303F14FAA3A}"/>
              </a:ext>
            </a:extLst>
          </p:cNvPr>
          <p:cNvSpPr>
            <a:spLocks noGrp="1"/>
          </p:cNvSpPr>
          <p:nvPr/>
        </p:nvSpPr>
        <p:spPr>
          <a:xfrm>
            <a:off x="4286250" y="2667000"/>
            <a:ext cx="6667500" cy="571500"/>
          </a:xfrm>
          <a:prstGeom prst="roundRect">
            <a:avLst>
              <a:gd name="adj" fmla="val 26667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Connected systems require strict access control and auditing.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8DEE0F6-30F4-4859-B0DA-EF4864380DD1}"/>
              </a:ext>
            </a:extLst>
          </p:cNvPr>
          <p:cNvSpPr>
            <a:spLocks noGrp="1"/>
          </p:cNvSpPr>
          <p:nvPr/>
        </p:nvSpPr>
        <p:spPr>
          <a:xfrm>
            <a:off x="857250" y="3619500"/>
            <a:ext cx="2952750" cy="571500"/>
          </a:xfrm>
          <a:prstGeom prst="roundRect">
            <a:avLst>
              <a:gd name="adj" fmla="val 26667"/>
            </a:avLst>
          </a:prstGeom>
          <a:solidFill>
            <a:srgbClr val="FDE9E7"/>
          </a:solidFill>
          <a:ln w="9525">
            <a:solidFill>
              <a:srgbClr val="F3B0A9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C4453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C44536"/>
                </a:solidFill>
                <a:latin typeface="Arial"/>
                <a:ea typeface="Arial"/>
                <a:cs typeface="Arial"/>
              </a:rPr>
              <a:t>Cost and latency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9F10D7-1E35-4B66-8943-30E9DB80E543}"/>
              </a:ext>
            </a:extLst>
          </p:cNvPr>
          <p:cNvSpPr>
            <a:spLocks noGrp="1"/>
          </p:cNvSpPr>
          <p:nvPr/>
        </p:nvSpPr>
        <p:spPr>
          <a:xfrm>
            <a:off x="4286250" y="3619500"/>
            <a:ext cx="6667500" cy="571500"/>
          </a:xfrm>
          <a:prstGeom prst="roundRect">
            <a:avLst>
              <a:gd name="adj" fmla="val 26667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Longer agent loops can consume more time and computing resources.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F52B11A-DD3F-4AF4-9C95-0D8C8738660B}"/>
              </a:ext>
            </a:extLst>
          </p:cNvPr>
          <p:cNvSpPr>
            <a:spLocks noGrp="1"/>
          </p:cNvSpPr>
          <p:nvPr/>
        </p:nvSpPr>
        <p:spPr>
          <a:xfrm>
            <a:off x="857250" y="4572000"/>
            <a:ext cx="2952750" cy="571500"/>
          </a:xfrm>
          <a:prstGeom prst="roundRect">
            <a:avLst>
              <a:gd name="adj" fmla="val 26667"/>
            </a:avLst>
          </a:prstGeom>
          <a:solidFill>
            <a:srgbClr val="FDE9E7"/>
          </a:solidFill>
          <a:ln w="9525">
            <a:solidFill>
              <a:srgbClr val="F3B0A9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425" b="1">
                <a:solidFill>
                  <a:srgbClr val="C4453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C44536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EE170B3-E2F3-43C6-8BBD-9576EB7E95F2}"/>
              </a:ext>
            </a:extLst>
          </p:cNvPr>
          <p:cNvSpPr>
            <a:spLocks noGrp="1"/>
          </p:cNvSpPr>
          <p:nvPr/>
        </p:nvSpPr>
        <p:spPr>
          <a:xfrm>
            <a:off x="4286250" y="4572000"/>
            <a:ext cx="6667500" cy="571500"/>
          </a:xfrm>
          <a:prstGeom prst="roundRect">
            <a:avLst>
              <a:gd name="adj" fmla="val 26667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High-impact decisions need human review and clear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701201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A9394E0-AC63-49E8-95E0-BB8C74251C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6F5389-C1AE-450D-B604-3477BEBD3B4F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Industry Expected Outcomes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385A471-F383-42D1-9272-6A8F2355542C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611B56-96CC-4A6E-B6A3-830C4C1FAF60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90AB8F3-90A3-45E5-8D1F-BD2DAC2C3289}"/>
              </a:ext>
            </a:extLst>
          </p:cNvPr>
          <p:cNvSpPr>
            <a:spLocks noGrp="1"/>
          </p:cNvSpPr>
          <p:nvPr/>
        </p:nvSpPr>
        <p:spPr>
          <a:xfrm>
            <a:off x="952500" y="1543050"/>
            <a:ext cx="2571750" cy="476250"/>
          </a:xfrm>
          <a:prstGeom prst="roundRect">
            <a:avLst>
              <a:gd name="adj" fmla="val 2800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Productivity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6184EB-BA9D-48DF-8D58-BD307888CD55}"/>
              </a:ext>
            </a:extLst>
          </p:cNvPr>
          <p:cNvSpPr>
            <a:spLocks noGrp="1"/>
          </p:cNvSpPr>
          <p:nvPr/>
        </p:nvSpPr>
        <p:spPr>
          <a:xfrm>
            <a:off x="4095750" y="1562100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Routine work finishes with fewer manual steps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9B4E9C-39E8-41AA-A397-509012195E63}"/>
              </a:ext>
            </a:extLst>
          </p:cNvPr>
          <p:cNvSpPr>
            <a:spLocks noGrp="1"/>
          </p:cNvSpPr>
          <p:nvPr/>
        </p:nvSpPr>
        <p:spPr>
          <a:xfrm>
            <a:off x="952500" y="2257425"/>
            <a:ext cx="2571750" cy="476250"/>
          </a:xfrm>
          <a:prstGeom prst="roundRect">
            <a:avLst>
              <a:gd name="adj" fmla="val 28000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3A717E-D81C-4F95-B0C4-73F40C051441}"/>
              </a:ext>
            </a:extLst>
          </p:cNvPr>
          <p:cNvSpPr>
            <a:spLocks noGrp="1"/>
          </p:cNvSpPr>
          <p:nvPr/>
        </p:nvSpPr>
        <p:spPr>
          <a:xfrm>
            <a:off x="4095750" y="2276475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Checks and standard procedures improve consistency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37098C2-4B65-4D77-BB5A-5AF9907732FA}"/>
              </a:ext>
            </a:extLst>
          </p:cNvPr>
          <p:cNvSpPr>
            <a:spLocks noGrp="1"/>
          </p:cNvSpPr>
          <p:nvPr/>
        </p:nvSpPr>
        <p:spPr>
          <a:xfrm>
            <a:off x="952500" y="2971800"/>
            <a:ext cx="2571750" cy="476250"/>
          </a:xfrm>
          <a:prstGeom prst="roundRect">
            <a:avLst>
              <a:gd name="adj" fmla="val 2800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Time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1BB4B5-A2F6-4FD1-B22F-8B162E5DB2AA}"/>
              </a:ext>
            </a:extLst>
          </p:cNvPr>
          <p:cNvSpPr>
            <a:spLocks noGrp="1"/>
          </p:cNvSpPr>
          <p:nvPr/>
        </p:nvSpPr>
        <p:spPr>
          <a:xfrm>
            <a:off x="4095750" y="2990850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Agents can gather information and prepare responses quickly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258069-47DD-4853-9914-97800BF2C98B}"/>
              </a:ext>
            </a:extLst>
          </p:cNvPr>
          <p:cNvSpPr>
            <a:spLocks noGrp="1"/>
          </p:cNvSpPr>
          <p:nvPr/>
        </p:nvSpPr>
        <p:spPr>
          <a:xfrm>
            <a:off x="952500" y="3686175"/>
            <a:ext cx="2571750" cy="476250"/>
          </a:xfrm>
          <a:prstGeom prst="roundRect">
            <a:avLst>
              <a:gd name="adj" fmla="val 28000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178AA7-B074-4E52-9449-A087437114B9}"/>
              </a:ext>
            </a:extLst>
          </p:cNvPr>
          <p:cNvSpPr>
            <a:spLocks noGrp="1"/>
          </p:cNvSpPr>
          <p:nvPr/>
        </p:nvSpPr>
        <p:spPr>
          <a:xfrm>
            <a:off x="4095750" y="3705225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Teams can automate repeatable workflows with exceptions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A724D57-81E6-4960-9D17-6322B8BCC971}"/>
              </a:ext>
            </a:extLst>
          </p:cNvPr>
          <p:cNvSpPr>
            <a:spLocks noGrp="1"/>
          </p:cNvSpPr>
          <p:nvPr/>
        </p:nvSpPr>
        <p:spPr>
          <a:xfrm>
            <a:off x="952500" y="4400550"/>
            <a:ext cx="2571750" cy="476250"/>
          </a:xfrm>
          <a:prstGeom prst="roundRect">
            <a:avLst>
              <a:gd name="adj" fmla="val 28000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Decision-making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F86E78-F459-43A2-B4B8-219A25E845F1}"/>
              </a:ext>
            </a:extLst>
          </p:cNvPr>
          <p:cNvSpPr>
            <a:spLocks noGrp="1"/>
          </p:cNvSpPr>
          <p:nvPr/>
        </p:nvSpPr>
        <p:spPr>
          <a:xfrm>
            <a:off x="4095750" y="4419600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Agents provide relevant context for human decisions</a:t>
            </a:r>
          </a:p>
        </p:txBody>
      </p:sp>
    </p:spTree>
    <p:extLst>
      <p:ext uri="{BB962C8B-B14F-4D97-AF65-F5344CB8AC3E}">
        <p14:creationId xmlns:p14="http://schemas.microsoft.com/office/powerpoint/2010/main" val="524450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FF421E1-756C-4803-A92D-A936511DD5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E5775-09E6-4048-8202-0B697E051485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Skills &amp; Career Opportunities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CBEF72B-841F-46FF-9DEA-F92F88479FC5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E351CA-E559-46D5-9E10-86C98D8E349C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36F0A8-C6F5-4514-AAB7-2854FB25AAEC}"/>
              </a:ext>
            </a:extLst>
          </p:cNvPr>
          <p:cNvSpPr>
            <a:spLocks noGrp="1"/>
          </p:cNvSpPr>
          <p:nvPr/>
        </p:nvSpPr>
        <p:spPr>
          <a:xfrm>
            <a:off x="1095375" y="1809750"/>
            <a:ext cx="4095750" cy="590550"/>
          </a:xfrm>
          <a:prstGeom prst="roundRect">
            <a:avLst>
              <a:gd name="adj" fmla="val 29032"/>
            </a:avLst>
          </a:prstGeom>
          <a:solidFill>
            <a:srgbClr val="EAF4F7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8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Skills Required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285C49-B0D5-46A7-831D-88A8C2C34A05}"/>
              </a:ext>
            </a:extLst>
          </p:cNvPr>
          <p:cNvSpPr>
            <a:spLocks noGrp="1"/>
          </p:cNvSpPr>
          <p:nvPr/>
        </p:nvSpPr>
        <p:spPr>
          <a:xfrm>
            <a:off x="1428750" y="2857500"/>
            <a:ext cx="3429000" cy="2190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Python or JavaScript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APIs and databases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Prompt and workflow design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Testing, evaluation and security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Cloud and deployment basics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DFD559-6B09-405C-B264-FFBCA5483E78}"/>
              </a:ext>
            </a:extLst>
          </p:cNvPr>
          <p:cNvSpPr>
            <a:spLocks noGrp="1"/>
          </p:cNvSpPr>
          <p:nvPr/>
        </p:nvSpPr>
        <p:spPr>
          <a:xfrm>
            <a:off x="6238875" y="1809750"/>
            <a:ext cx="4095750" cy="590550"/>
          </a:xfrm>
          <a:prstGeom prst="roundRect">
            <a:avLst>
              <a:gd name="adj" fmla="val 29032"/>
            </a:avLst>
          </a:prstGeom>
          <a:solidFill>
            <a:srgbClr val="D8EEF5"/>
          </a:solidFill>
          <a:ln w="9525">
            <a:solidFill>
              <a:srgbClr val="B9D6E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8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Career Opportunities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654E3-2CF1-4018-B0FE-683EB5CBF1B5}"/>
              </a:ext>
            </a:extLst>
          </p:cNvPr>
          <p:cNvSpPr>
            <a:spLocks noGrp="1"/>
          </p:cNvSpPr>
          <p:nvPr/>
        </p:nvSpPr>
        <p:spPr>
          <a:xfrm>
            <a:off x="6572250" y="2857500"/>
            <a:ext cx="3429000" cy="2190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AI application developer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Automation engineer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Data and AI engineer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AI product specialist</a:t>
            </a:r>
          </a:p>
          <a:p>
            <a:pPr>
              <a:defRPr sz="1650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Responsible AI and security roles</a:t>
            </a:r>
          </a:p>
        </p:txBody>
      </p:sp>
    </p:spTree>
    <p:extLst>
      <p:ext uri="{BB962C8B-B14F-4D97-AF65-F5344CB8AC3E}">
        <p14:creationId xmlns:p14="http://schemas.microsoft.com/office/powerpoint/2010/main" val="77901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A3D86E-D2A4-4BA2-A47A-879B13EA55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D7AE77-480D-4CC4-8550-71DA9455AF32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Future Scope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E2C9A68-6457-4D98-AEE6-AB9A8621BE86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8F23E3-79DB-431D-A790-1CECC3154EE5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B74D74F-A16F-44EB-B229-85047EF5DF01}"/>
              </a:ext>
            </a:extLst>
          </p:cNvPr>
          <p:cNvSpPr>
            <a:spLocks noGrp="1"/>
          </p:cNvSpPr>
          <p:nvPr/>
        </p:nvSpPr>
        <p:spPr>
          <a:xfrm>
            <a:off x="876300" y="16668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F89FE-660C-4263-A48B-3238D4550A8C}"/>
              </a:ext>
            </a:extLst>
          </p:cNvPr>
          <p:cNvSpPr>
            <a:spLocks noGrp="1"/>
          </p:cNvSpPr>
          <p:nvPr/>
        </p:nvSpPr>
        <p:spPr>
          <a:xfrm>
            <a:off x="1571625" y="16287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More capable tool use with better safeguards and approvals.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3C0F71B-764E-4121-A480-B978FFA0F7D2}"/>
              </a:ext>
            </a:extLst>
          </p:cNvPr>
          <p:cNvSpPr>
            <a:spLocks noGrp="1"/>
          </p:cNvSpPr>
          <p:nvPr/>
        </p:nvSpPr>
        <p:spPr>
          <a:xfrm>
            <a:off x="876300" y="25050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CCFBA7-7881-4D4D-BA9D-5FA22A7F9369}"/>
              </a:ext>
            </a:extLst>
          </p:cNvPr>
          <p:cNvSpPr>
            <a:spLocks noGrp="1"/>
          </p:cNvSpPr>
          <p:nvPr/>
        </p:nvSpPr>
        <p:spPr>
          <a:xfrm>
            <a:off x="1571625" y="24669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Specialist agents coordinated for complex tasks across departments.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29DD05A-B52D-491F-A1FF-6779CD5CDF62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1EE978-E9ED-4144-84FB-05A9F6982F7B}"/>
              </a:ext>
            </a:extLst>
          </p:cNvPr>
          <p:cNvSpPr>
            <a:spLocks noGrp="1"/>
          </p:cNvSpPr>
          <p:nvPr/>
        </p:nvSpPr>
        <p:spPr>
          <a:xfrm>
            <a:off x="1571625" y="33051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Multimodal agents that understand text, images, audio and software interfaces.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1725EAF-5CCC-4657-AEB0-0389C5B078A2}"/>
              </a:ext>
            </a:extLst>
          </p:cNvPr>
          <p:cNvSpPr>
            <a:spLocks noGrp="1"/>
          </p:cNvSpPr>
          <p:nvPr/>
        </p:nvSpPr>
        <p:spPr>
          <a:xfrm>
            <a:off x="876300" y="41814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272F4E-6D24-4FDD-B596-BCC570CEBFF7}"/>
              </a:ext>
            </a:extLst>
          </p:cNvPr>
          <p:cNvSpPr>
            <a:spLocks noGrp="1"/>
          </p:cNvSpPr>
          <p:nvPr/>
        </p:nvSpPr>
        <p:spPr>
          <a:xfrm>
            <a:off x="1571625" y="41433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Improved evaluation, monitoring and governance for real-world deployment.</a:t>
            </a:r>
          </a:p>
        </p:txBody>
      </p:sp>
    </p:spTree>
    <p:extLst>
      <p:ext uri="{BB962C8B-B14F-4D97-AF65-F5344CB8AC3E}">
        <p14:creationId xmlns:p14="http://schemas.microsoft.com/office/powerpoint/2010/main" val="892891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0567E27-8862-4F6F-AEAA-38D464BDFA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F52EDC-4E58-4592-A9A0-E760DF355B03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3C4267F4-0F06-4B4B-9379-C614F484EC31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195857-61E8-4D73-A3F4-8CB29036F726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BC4374C-CD41-4D50-B176-2C02646E9F17}"/>
              </a:ext>
            </a:extLst>
          </p:cNvPr>
          <p:cNvSpPr>
            <a:spLocks noGrp="1"/>
          </p:cNvSpPr>
          <p:nvPr/>
        </p:nvSpPr>
        <p:spPr>
          <a:xfrm>
            <a:off x="876300" y="18573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DB4E84-25EC-4306-B7BC-C3446CA8ECB4}"/>
              </a:ext>
            </a:extLst>
          </p:cNvPr>
          <p:cNvSpPr>
            <a:spLocks noGrp="1"/>
          </p:cNvSpPr>
          <p:nvPr/>
        </p:nvSpPr>
        <p:spPr>
          <a:xfrm>
            <a:off x="1571625" y="18192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Agentic AI extends chatbots with planning, tools, feedback and controlled action.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9F7F570-611B-433C-8A00-3214186CA49D}"/>
              </a:ext>
            </a:extLst>
          </p:cNvPr>
          <p:cNvSpPr>
            <a:spLocks noGrp="1"/>
          </p:cNvSpPr>
          <p:nvPr/>
        </p:nvSpPr>
        <p:spPr>
          <a:xfrm>
            <a:off x="876300" y="26955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BBCA17-ED33-436C-94CF-E2C190C76219}"/>
              </a:ext>
            </a:extLst>
          </p:cNvPr>
          <p:cNvSpPr>
            <a:spLocks noGrp="1"/>
          </p:cNvSpPr>
          <p:nvPr/>
        </p:nvSpPr>
        <p:spPr>
          <a:xfrm>
            <a:off x="1571625" y="26574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Its value comes from solving multi-step tasks while keeping people in control of sensitive decisions.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82FEBB7-D622-4D3A-868C-18FD9646A2CB}"/>
              </a:ext>
            </a:extLst>
          </p:cNvPr>
          <p:cNvSpPr>
            <a:spLocks noGrp="1"/>
          </p:cNvSpPr>
          <p:nvPr/>
        </p:nvSpPr>
        <p:spPr>
          <a:xfrm>
            <a:off x="876300" y="3533775"/>
            <a:ext cx="419100" cy="4191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CCF7-C683-4FF7-9038-0C4F34F4EBCB}"/>
              </a:ext>
            </a:extLst>
          </p:cNvPr>
          <p:cNvSpPr>
            <a:spLocks noGrp="1"/>
          </p:cNvSpPr>
          <p:nvPr/>
        </p:nvSpPr>
        <p:spPr>
          <a:xfrm>
            <a:off x="1571625" y="3495675"/>
            <a:ext cx="881062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575" b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best starting point is a small, well-tested workflow with clear guardrails.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ACCA94-13FA-435A-80E5-EE4F511DAB4B}"/>
              </a:ext>
            </a:extLst>
          </p:cNvPr>
          <p:cNvSpPr>
            <a:spLocks noGrp="1"/>
          </p:cNvSpPr>
          <p:nvPr/>
        </p:nvSpPr>
        <p:spPr>
          <a:xfrm>
            <a:off x="7810500" y="5429250"/>
            <a:ext cx="285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7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371395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CAEB53E-4644-4665-AF68-6D2F92F0C4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32B7C7"/>
          </a:solidFill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1F66B2-45B2-4125-938F-950A6A2E42B3}"/>
              </a:ext>
            </a:extLst>
          </p:cNvPr>
          <p:cNvSpPr>
            <a:spLocks noGrp="1"/>
          </p:cNvSpPr>
          <p:nvPr/>
        </p:nvSpPr>
        <p:spPr>
          <a:xfrm>
            <a:off x="628650" y="400050"/>
            <a:ext cx="10287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A66708BD-3D9B-4859-92B2-530FE8D828D4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10934700" cy="0"/>
          </a:xfrm>
          <a:prstGeom prst="line">
            <a:avLst/>
          </a:prstGeom>
          <a:ln w="9525">
            <a:solidFill>
              <a:srgbClr val="B9D6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6414ED-46EF-4215-B99D-C8C850A2A32F}"/>
              </a:ext>
            </a:extLst>
          </p:cNvPr>
          <p:cNvSpPr>
            <a:spLocks noGrp="1"/>
          </p:cNvSpPr>
          <p:nvPr/>
        </p:nvSpPr>
        <p:spPr>
          <a:xfrm>
            <a:off x="11106150" y="619125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900" b="1">
                <a:solidFill>
                  <a:srgbClr val="1E5AA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E5AA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8DDB97C-40A0-4A87-B733-24F1306FB623}"/>
              </a:ext>
            </a:extLst>
          </p:cNvPr>
          <p:cNvSpPr>
            <a:spLocks noGrp="1"/>
          </p:cNvSpPr>
          <p:nvPr/>
        </p:nvSpPr>
        <p:spPr>
          <a:xfrm>
            <a:off x="876300" y="1666875"/>
            <a:ext cx="381000" cy="3810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05148C-B183-43AA-870D-B911F1D859C9}"/>
              </a:ext>
            </a:extLst>
          </p:cNvPr>
          <p:cNvSpPr>
            <a:spLocks noGrp="1"/>
          </p:cNvSpPr>
          <p:nvPr/>
        </p:nvSpPr>
        <p:spPr>
          <a:xfrm>
            <a:off x="1524000" y="1600200"/>
            <a:ext cx="9191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OpenAI. A practical guide to building AI agents. https://openai.com/business/guides-and-resources/a-practical-guide-to-building-ai-agents/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A99990-327A-4A31-AA8D-17B1C4C686C5}"/>
              </a:ext>
            </a:extLst>
          </p:cNvPr>
          <p:cNvSpPr>
            <a:spLocks noGrp="1"/>
          </p:cNvSpPr>
          <p:nvPr/>
        </p:nvSpPr>
        <p:spPr>
          <a:xfrm>
            <a:off x="876300" y="2447925"/>
            <a:ext cx="381000" cy="3810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EDF3FE-08B7-47C6-B0F0-A08DB89BA5B5}"/>
              </a:ext>
            </a:extLst>
          </p:cNvPr>
          <p:cNvSpPr>
            <a:spLocks noGrp="1"/>
          </p:cNvSpPr>
          <p:nvPr/>
        </p:nvSpPr>
        <p:spPr>
          <a:xfrm>
            <a:off x="1524000" y="2381250"/>
            <a:ext cx="9191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Anthropic. Building effective agents. https://www.anthropic.com/engineering/building-effective-agents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CD6B1EC-F29A-4090-8804-2E33B1C74243}"/>
              </a:ext>
            </a:extLst>
          </p:cNvPr>
          <p:cNvSpPr>
            <a:spLocks noGrp="1"/>
          </p:cNvSpPr>
          <p:nvPr/>
        </p:nvSpPr>
        <p:spPr>
          <a:xfrm>
            <a:off x="876300" y="3228975"/>
            <a:ext cx="381000" cy="3810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3B0C9E-6453-4C54-99FB-AA79119F7C20}"/>
              </a:ext>
            </a:extLst>
          </p:cNvPr>
          <p:cNvSpPr>
            <a:spLocks noGrp="1"/>
          </p:cNvSpPr>
          <p:nvPr/>
        </p:nvSpPr>
        <p:spPr>
          <a:xfrm>
            <a:off x="1524000" y="3162300"/>
            <a:ext cx="9191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IBM. What are components of AI agents? https://www.ibm.com/think/topics/components-of-ai-agents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4C0E6D5-93E2-443C-8269-6DA574E16154}"/>
              </a:ext>
            </a:extLst>
          </p:cNvPr>
          <p:cNvSpPr>
            <a:spLocks noGrp="1"/>
          </p:cNvSpPr>
          <p:nvPr/>
        </p:nvSpPr>
        <p:spPr>
          <a:xfrm>
            <a:off x="876300" y="4010025"/>
            <a:ext cx="381000" cy="381000"/>
          </a:xfrm>
          <a:prstGeom prst="ellipse">
            <a:avLst/>
          </a:prstGeom>
          <a:solidFill>
            <a:srgbClr val="1E5AA8"/>
          </a:solidFill>
          <a:ln w="0">
            <a:noFill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13F907-2B73-47DB-B3A7-D156CB09EA03}"/>
              </a:ext>
            </a:extLst>
          </p:cNvPr>
          <p:cNvSpPr>
            <a:spLocks noGrp="1"/>
          </p:cNvSpPr>
          <p:nvPr/>
        </p:nvSpPr>
        <p:spPr>
          <a:xfrm>
            <a:off x="1524000" y="3943350"/>
            <a:ext cx="9191625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defRPr sz="1275" b="0">
                <a:solidFill>
                  <a:srgbClr val="48658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581"/>
                </a:solidFill>
                <a:latin typeface="Arial"/>
                <a:ea typeface="Arial"/>
                <a:cs typeface="Arial"/>
              </a:rPr>
              <a:t>Department of Diploma Computer Engineering. Seminar Guidelines, Instructions &amp; Topic Allocation.</a:t>
            </a:r>
          </a:p>
        </p:txBody>
      </p:sp>
    </p:spTree>
    <p:extLst>
      <p:ext uri="{BB962C8B-B14F-4D97-AF65-F5344CB8AC3E}">
        <p14:creationId xmlns:p14="http://schemas.microsoft.com/office/powerpoint/2010/main" val="17143372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1519</Words>
  <Application>Microsoft Office PowerPoint</Application>
  <DocSecurity>0</DocSecurity>
  <PresentationFormat>Widescreen</PresentationFormat>
  <Paragraphs>208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Krishnakant Pawan Jadhav</cp:lastModifiedBy>
  <cp:revision>1</cp:revision>
  <dcterms:created xsi:type="dcterms:W3CDTF">2026-09-26T18:50:21Z</dcterms:created>
  <dcterms:modified xsi:type="dcterms:W3CDTF">2026-09-30T02:58:48Z</dcterms:modified>
</cp:coreProperties>
</file>