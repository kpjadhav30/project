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92af2f36314f53" /><Relationship Type="http://schemas.openxmlformats.org/officeDocument/2006/relationships/extended-properties" Target="/docProps/app.xml" Id="R31ae82a313dd40a3" /><Relationship Type="http://schemas.openxmlformats.org/officeDocument/2006/relationships/officeDocument" Target="/ppt/presentation.xml" Id="Rabb24d5330ab43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29fb6707a64d80"/>
  </p:sldMasterIdLst>
  <p:notesMasterIdLst>
    <p:notesMasterId xmlns:r="http://schemas.openxmlformats.org/officeDocument/2006/relationships" r:id="R7e4ec0b88c2641ae"/>
  </p:notesMasterIdLst>
  <p:sldIdLst>
    <p:sldId xmlns:r="http://schemas.openxmlformats.org/officeDocument/2006/relationships" id="256" r:id="R646d44a030464221"/>
    <p:sldId xmlns:r="http://schemas.openxmlformats.org/officeDocument/2006/relationships" id="257" r:id="Rea1ff446018b4ce3"/>
    <p:sldId xmlns:r="http://schemas.openxmlformats.org/officeDocument/2006/relationships" id="258" r:id="Rdc91741c8ace495e"/>
    <p:sldId xmlns:r="http://schemas.openxmlformats.org/officeDocument/2006/relationships" id="259" r:id="Rd1e70ea3a1e64467"/>
    <p:sldId xmlns:r="http://schemas.openxmlformats.org/officeDocument/2006/relationships" id="260" r:id="R3c63c95e2f634c2c"/>
    <p:sldId xmlns:r="http://schemas.openxmlformats.org/officeDocument/2006/relationships" id="261" r:id="R9c78f35502844232"/>
    <p:sldId xmlns:r="http://schemas.openxmlformats.org/officeDocument/2006/relationships" id="262" r:id="R161bd256e59f410f"/>
    <p:sldId xmlns:r="http://schemas.openxmlformats.org/officeDocument/2006/relationships" id="263" r:id="Rf865a9549ba44a18"/>
    <p:sldId xmlns:r="http://schemas.openxmlformats.org/officeDocument/2006/relationships" id="264" r:id="R2e87c60e4d074956"/>
    <p:sldId xmlns:r="http://schemas.openxmlformats.org/officeDocument/2006/relationships" id="265" r:id="Re697ae00d5974718"/>
    <p:sldId xmlns:r="http://schemas.openxmlformats.org/officeDocument/2006/relationships" id="266" r:id="R9a65d4d6a7424f39"/>
    <p:sldId xmlns:r="http://schemas.openxmlformats.org/officeDocument/2006/relationships" id="267" r:id="Rf48f2a86a8d84021"/>
    <p:sldId xmlns:r="http://schemas.openxmlformats.org/officeDocument/2006/relationships" id="268" r:id="R90d3716cd9d941e4"/>
    <p:sldId xmlns:r="http://schemas.openxmlformats.org/officeDocument/2006/relationships" id="269" r:id="Rc59eb8f8a5ab4615"/>
    <p:sldId xmlns:r="http://schemas.openxmlformats.org/officeDocument/2006/relationships" id="270" r:id="Re1f3daf7a7364368"/>
    <p:sldId xmlns:r="http://schemas.openxmlformats.org/officeDocument/2006/relationships" id="271" r:id="R74c2423bb8db43dc"/>
    <p:sldId xmlns:r="http://schemas.openxmlformats.org/officeDocument/2006/relationships" id="272" r:id="R37e078ad6b0041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164490ed3a409e" /><Relationship Type="http://schemas.openxmlformats.org/officeDocument/2006/relationships/slideMaster" Target="/ppt/slideMasters/slideMaster1.xml" Id="R3f29fb6707a64d80" /><Relationship Type="http://schemas.openxmlformats.org/officeDocument/2006/relationships/notesMaster" Target="/ppt/notesMasters/notesMaster1.xml" Id="R7e4ec0b88c2641ae" /><Relationship Type="http://schemas.openxmlformats.org/officeDocument/2006/relationships/presProps" Target="/ppt/presProps.xml" Id="R7fa0667fa9be47e1" /><Relationship Type="http://schemas.openxmlformats.org/officeDocument/2006/relationships/tableStyles" Target="/ppt/tableStyles.xml" Id="R50c326c0c4e44606" /><Relationship Type="http://schemas.openxmlformats.org/officeDocument/2006/relationships/slide" Target="/ppt/slides/slide1.xml" Id="R646d44a030464221" /><Relationship Type="http://schemas.openxmlformats.org/officeDocument/2006/relationships/slide" Target="/ppt/slides/slide2.xml" Id="Rea1ff446018b4ce3" /><Relationship Type="http://schemas.openxmlformats.org/officeDocument/2006/relationships/slide" Target="/ppt/slides/slide3.xml" Id="Rdc91741c8ace495e" /><Relationship Type="http://schemas.openxmlformats.org/officeDocument/2006/relationships/slide" Target="/ppt/slides/slide4.xml" Id="Rd1e70ea3a1e64467" /><Relationship Type="http://schemas.openxmlformats.org/officeDocument/2006/relationships/slide" Target="/ppt/slides/slide5.xml" Id="R3c63c95e2f634c2c" /><Relationship Type="http://schemas.openxmlformats.org/officeDocument/2006/relationships/slide" Target="/ppt/slides/slide6.xml" Id="R9c78f35502844232" /><Relationship Type="http://schemas.openxmlformats.org/officeDocument/2006/relationships/slide" Target="/ppt/slides/slide7.xml" Id="R161bd256e59f410f" /><Relationship Type="http://schemas.openxmlformats.org/officeDocument/2006/relationships/slide" Target="/ppt/slides/slide8.xml" Id="Rf865a9549ba44a18" /><Relationship Type="http://schemas.openxmlformats.org/officeDocument/2006/relationships/slide" Target="/ppt/slides/slide9.xml" Id="R2e87c60e4d074956" /><Relationship Type="http://schemas.openxmlformats.org/officeDocument/2006/relationships/slide" Target="/ppt/slides/slide10.xml" Id="Re697ae00d5974718" /><Relationship Type="http://schemas.openxmlformats.org/officeDocument/2006/relationships/slide" Target="/ppt/slides/slide11.xml" Id="R9a65d4d6a7424f39" /><Relationship Type="http://schemas.openxmlformats.org/officeDocument/2006/relationships/slide" Target="/ppt/slides/slide12.xml" Id="Rf48f2a86a8d84021" /><Relationship Type="http://schemas.openxmlformats.org/officeDocument/2006/relationships/slide" Target="/ppt/slides/slide13.xml" Id="R90d3716cd9d941e4" /><Relationship Type="http://schemas.openxmlformats.org/officeDocument/2006/relationships/slide" Target="/ppt/slides/slide14.xml" Id="Rc59eb8f8a5ab4615" /><Relationship Type="http://schemas.openxmlformats.org/officeDocument/2006/relationships/slide" Target="/ppt/slides/slide15.xml" Id="Re1f3daf7a7364368" /><Relationship Type="http://schemas.openxmlformats.org/officeDocument/2006/relationships/slide" Target="/ppt/slides/slide16.xml" Id="R74c2423bb8db43dc" /><Relationship Type="http://schemas.openxmlformats.org/officeDocument/2006/relationships/slide" Target="/ppt/slides/slide17.xml" Id="R37e078ad6b0041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93a339bc341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45cdeaf19c49a4" /><Relationship Type="http://schemas.openxmlformats.org/officeDocument/2006/relationships/notesMaster" Target="/ppt/notesMasters/notesMaster1.xml" Id="Re28fa39c493d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cd3572b54b4b63" /><Relationship Type="http://schemas.openxmlformats.org/officeDocument/2006/relationships/notesMaster" Target="/ppt/notesMasters/notesMaster1.xml" Id="Rfaf79b07214546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e1bff694b4b79" /><Relationship Type="http://schemas.openxmlformats.org/officeDocument/2006/relationships/notesMaster" Target="/ppt/notesMasters/notesMaster1.xml" Id="R656b13c0f2034b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ccec6215224b5c" /><Relationship Type="http://schemas.openxmlformats.org/officeDocument/2006/relationships/notesMaster" Target="/ppt/notesMasters/notesMaster1.xml" Id="R3a9c10e6ea2644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6c4c779b44d5e" /><Relationship Type="http://schemas.openxmlformats.org/officeDocument/2006/relationships/notesMaster" Target="/ppt/notesMasters/notesMaster1.xml" Id="Rdb495adf52424a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8217a4788b4400" /><Relationship Type="http://schemas.openxmlformats.org/officeDocument/2006/relationships/notesMaster" Target="/ppt/notesMasters/notesMaster1.xml" Id="R54e609e63b3146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c63e82eeb4501" /><Relationship Type="http://schemas.openxmlformats.org/officeDocument/2006/relationships/notesMaster" Target="/ppt/notesMasters/notesMaster1.xml" Id="R2b5bee7a82ba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2a5eb16ef04788" /><Relationship Type="http://schemas.openxmlformats.org/officeDocument/2006/relationships/notesMaster" Target="/ppt/notesMasters/notesMaster1.xml" Id="Rc6cf8487cf9f4a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1269c43b094a33" /><Relationship Type="http://schemas.openxmlformats.org/officeDocument/2006/relationships/notesMaster" Target="/ppt/notesMasters/notesMaster1.xml" Id="Re7562786059a4d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71c1d0a8984955" /><Relationship Type="http://schemas.openxmlformats.org/officeDocument/2006/relationships/notesMaster" Target="/ppt/notesMasters/notesMaster1.xml" Id="R4e5ede32604d48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ad9ee6ecc8488d" /><Relationship Type="http://schemas.openxmlformats.org/officeDocument/2006/relationships/notesMaster" Target="/ppt/notesMasters/notesMaster1.xml" Id="Rda09c73bad374b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0d0cfa92f9417d" /><Relationship Type="http://schemas.openxmlformats.org/officeDocument/2006/relationships/notesMaster" Target="/ppt/notesMasters/notesMaster1.xml" Id="Rb390ffd67d2f4a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d310ba47684cf2" /><Relationship Type="http://schemas.openxmlformats.org/officeDocument/2006/relationships/notesMaster" Target="/ppt/notesMasters/notesMaster1.xml" Id="Rff6cf9a0b1e443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a6b975ff634d4e" /><Relationship Type="http://schemas.openxmlformats.org/officeDocument/2006/relationships/notesMaster" Target="/ppt/notesMasters/notesMaster1.xml" Id="R8eb27743aca445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d257bc489b4928" /><Relationship Type="http://schemas.openxmlformats.org/officeDocument/2006/relationships/notesMaster" Target="/ppt/notesMasters/notesMaster1.xml" Id="Rb20b6825ea004c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8796065c0646d1" /><Relationship Type="http://schemas.openxmlformats.org/officeDocument/2006/relationships/notesMaster" Target="/ppt/notesMasters/notesMaster1.xml" Id="Rce51771f13ff42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4e8032a57c4b5c" /><Relationship Type="http://schemas.openxmlformats.org/officeDocument/2006/relationships/notesMaster" Target="/ppt/notesMasters/notesMaster1.xml" Id="R6c0ed5d4e86147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reference: 15 Seminar Topics Diploma Computer Engineering, Group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reference: 15 Seminar Topics Diploma Computer Engineering, Group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Case study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Source: IBM, What are components of AI agents?, https://www.ibm.com/think/topics/components-of-ai-agents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Career examples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Source: Anthropic, Building effective agents, https://www.anthropic.com/engineering/building-effective-agents (accessed 27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OpenAI, A practical guide to building AI agents, https://openai.com/business/guides-and-resources/a-practical-guide-to-building-ai-agents/ (accessed 27 Sep 2026).</a:t>
            </a:r>
          </a:p>
          <a:p xmlns:a="http://schemas.openxmlformats.org/drawingml/2006/main">
            <a:r>
              <a:t>Source: Anthropic, Building effective agents, https://www.anthropic.com/engineering/building-effective-agents (accessed 27 Sep 2026).</a:t>
            </a:r>
          </a:p>
          <a:p xmlns:a="http://schemas.openxmlformats.org/drawingml/2006/main">
            <a:r>
              <a:t>Source: IBM, What are components of AI agents?, https://www.ibm.com/think/topics/components-of-ai-agents (accessed 27 Sep 2026).</a:t>
            </a:r>
          </a:p>
          <a:p xmlns:a="http://schemas.openxmlformats.org/drawingml/2006/main">
            <a:r>
              <a:t>Topic reference: 15 Seminar Topics Diploma Computer Engineering, Group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caeaa0b7b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790e9cace84ee7" /><Relationship Type="http://schemas.openxmlformats.org/officeDocument/2006/relationships/slideLayout" Target="/ppt/slideLayouts/slideLayout1.xml" Id="R6e1a5c8530d941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a5c8530d941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ecb947104dbe" /><Relationship Type="http://schemas.openxmlformats.org/officeDocument/2006/relationships/notesSlide" Target="/ppt/notesSlides/notesSlide1.xml" Id="R38e270e57cdc4f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5df71e2a44df2" /><Relationship Type="http://schemas.openxmlformats.org/officeDocument/2006/relationships/notesSlide" Target="/ppt/notesSlides/notesSlide2.xml" Id="Re27073bacf9d47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8c8bf7bb64863" /><Relationship Type="http://schemas.openxmlformats.org/officeDocument/2006/relationships/notesSlide" Target="/ppt/notesSlides/notesSlide3.xml" Id="R2d98da0b2a794c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a177e82a7460c" /><Relationship Type="http://schemas.openxmlformats.org/officeDocument/2006/relationships/notesSlide" Target="/ppt/notesSlides/notesSlide4.xml" Id="Rd2183f143d2540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c0a8e6cc14350" /><Relationship Type="http://schemas.openxmlformats.org/officeDocument/2006/relationships/notesSlide" Target="/ppt/notesSlides/notesSlide5.xml" Id="R6b2bd6488d4740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f6e1bb1e744dd" /><Relationship Type="http://schemas.openxmlformats.org/officeDocument/2006/relationships/notesSlide" Target="/ppt/notesSlides/notesSlide6.xml" Id="R0ab6e626cb8f48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1290ace3642de" /><Relationship Type="http://schemas.openxmlformats.org/officeDocument/2006/relationships/notesSlide" Target="/ppt/notesSlides/notesSlide7.xml" Id="R7ee14a37391745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bfd699c694285" /><Relationship Type="http://schemas.openxmlformats.org/officeDocument/2006/relationships/notesSlide" Target="/ppt/notesSlides/notesSlide8.xml" Id="Rad8f54b453c349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8fa25fa484dde" /><Relationship Type="http://schemas.openxmlformats.org/officeDocument/2006/relationships/notesSlide" Target="/ppt/notesSlides/notesSlide9.xml" Id="R5902bfeb8d554b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54df855364488" /><Relationship Type="http://schemas.openxmlformats.org/officeDocument/2006/relationships/notesSlide" Target="/ppt/notesSlides/notesSlide10.xml" Id="R02e868ecb75f4b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3814f42c04bbe" /><Relationship Type="http://schemas.openxmlformats.org/officeDocument/2006/relationships/notesSlide" Target="/ppt/notesSlides/notesSlide11.xml" Id="R1a6c4d54154f4b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a52ae46e748f1" /><Relationship Type="http://schemas.openxmlformats.org/officeDocument/2006/relationships/notesSlide" Target="/ppt/notesSlides/notesSlide12.xml" Id="Re83ca78b7c744e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4d8a20dbc4d24" /><Relationship Type="http://schemas.openxmlformats.org/officeDocument/2006/relationships/notesSlide" Target="/ppt/notesSlides/notesSlide13.xml" Id="R17f0c435ed784b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049384e7d4798" /><Relationship Type="http://schemas.openxmlformats.org/officeDocument/2006/relationships/notesSlide" Target="/ppt/notesSlides/notesSlide14.xml" Id="R02161febdad64f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af837b80a4a96" /><Relationship Type="http://schemas.openxmlformats.org/officeDocument/2006/relationships/notesSlide" Target="/ppt/notesSlides/notesSlide15.xml" Id="R733e4d0a5e0949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22b5881e64ab9" /><Relationship Type="http://schemas.openxmlformats.org/officeDocument/2006/relationships/notesSlide" Target="/ppt/notesSlides/notesSlide16.xml" Id="R3c1c095ee7da47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5214a76ca4b28" /><Relationship Type="http://schemas.openxmlformats.org/officeDocument/2006/relationships/notesSlide" Target="/ppt/notesSlides/notesSlide17.xml" Id="R341ead58447c41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D5BAC-D435-4756-A98A-C2EA4B6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143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C620A-446A-4C0A-A128-F97FDC17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B3550-CE96-4B8E-96ED-C910B924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76375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40308-255D-4DFA-8E52-24BDDB8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82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7FCE8-D95B-4FA4-8360-B4DAE49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A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AF1"/>
                </a:solidFill>
                <a:latin typeface="Arial"/>
                <a:ea typeface="Arial"/>
                <a:cs typeface="Arial"/>
              </a:rPr>
              <a:t>The Evolution from Chatbots to Autonomous AI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51F71-F69A-4C9F-B423-66E7EB2A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2B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2B7C7"/>
                </a:solidFill>
                <a:latin typeface="Arial"/>
                <a:ea typeface="Arial"/>
                <a:cs typeface="Arial"/>
              </a:rPr>
              <a:t>Seminar Presentation | Diploma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511364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B4565-BDE4-4BC6-B86F-884FBC14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EC7BD-4FF5-4BBE-A149-BF491FBA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Student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76DF7-76F8-433A-A682-35BEB1AC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86220-EE0A-4C6D-9949-31A93110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59282-DA5D-4529-839E-B17E523C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2571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23848-14C5-43DC-8095-F335AA6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0F5DB-AB3E-43AC-9D7F-2537F64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2571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Roll 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4BD44-9E2D-4534-BAFE-FAA91F26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D2781-767C-4FE7-A5CE-EE19B958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2571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Class /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24ADA-9682-4491-9D82-E3B5C51F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01C2B-7013-45CD-B663-70221E9C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2571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College / Institute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AC8DC-9D8B-4B36-AB7E-36953076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F5128-B97E-455E-B07C-F331E5B0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2571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Guide / Faculty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A21B5-9ADF-4365-BE28-74653B5E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92720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F08E3-42A1-40B0-817F-833AF1F3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B1820-42EB-47E2-9AB2-9094D0BB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75567-3CA8-4808-98F1-86DA70A0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What is Agentic AI?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C589C-5358-40DA-9A9A-1620204D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ED11C-DD9B-40EE-9A9D-FDF40B81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82BD1-B7C7-4445-912E-CD8ED7B3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9D6F1-BBC3-4CD6-943E-920A505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192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Agentic AI refers to AI systems that pursue a goal through multiple steps.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E727D-E24E-4AEF-B31E-D4FE0140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58DA8-CA3D-49D0-8F5F-861CDA34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574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uses a language model to reason, choose actions and use approved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B9954-A42A-4C07-AD0F-818874DE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6D653-7853-4D6C-BAE7-65F00966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956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Unlike a basic chatbot, it can work through a task and report or escalate the result.</a:t>
            </a:r>
          </a:p>
        </p:txBody>
      </p:sp>
    </p:spTree>
    <p:extLst>
      <p:ext uri="{BB962C8B-B14F-4D97-AF65-F5344CB8AC3E}">
        <p14:creationId xmlns:p14="http://schemas.microsoft.com/office/powerpoint/2010/main" val="1959009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5DF8C-837F-4221-8B9A-8F3D442F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45A26-F300-4F07-A9F2-99F48B78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Background /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B781B-3B40-496C-8547-F5C5F7D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How AI moved from answers to assisted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492FF-B42A-493E-977E-B6C16FF8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5C05D-093E-454A-89A6-93244DDC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55C07-DB8E-4751-BE36-503840AB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Rule-based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0A6EF-F9A2-4855-8653-DD7E0E3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28875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Chatbots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answer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54D79-D384-4153-A4D8-B64E0CA5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Copilots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assist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DDDF3-2A13-43E7-BFE9-A5719EFC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28875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Agents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FF477-BC3D-46DB-A472-B06BDED9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9488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Autonomous systems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operate with limits</a:t>
            </a:r>
          </a:p>
        </p:txBody>
      </p:sp>
      <p:cxnSp>
        <p:nvCxnSpPr>
          <p:cNvPr id="26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2419350" y="28384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657725" y="28384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896100" y="28384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134475" y="28384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AD0E1-76AC-4ED7-956D-299716A1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Progress came from stronger language models, tool calling, retrieval systems and better safeguards.</a:t>
            </a:r>
          </a:p>
        </p:txBody>
      </p:sp>
    </p:spTree>
    <p:extLst>
      <p:ext uri="{BB962C8B-B14F-4D97-AF65-F5344CB8AC3E}">
        <p14:creationId xmlns:p14="http://schemas.microsoft.com/office/powerpoint/2010/main" val="1345434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304AB-F231-491A-8D1E-8F776FDD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3869A-9A44-4340-9AA0-0A41D7F4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Need for the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C47C7-D37A-4FCC-944E-1CD35D45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Why agentic systems emerged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E38BF-3F57-44BF-A7C0-24C77333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0F90A-EF9E-43FB-B128-6B9490B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F4753-701E-4933-B2E8-DC2A5B56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6B6FC-5D6F-4393-8273-9C02EDD4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192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Many business tasks involve several applications, documents and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9DB17-F9A0-40A1-9CA8-04FD7D7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C86FC-7103-4994-98B1-69829709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574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Rule-based automation becomes difficult to maintain when cases contain exceptions.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F656C-8DD8-4EEC-B878-065930F7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289D9-6EF0-461E-803F-1A8C960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956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People need systems that can interpret natural-language requests while staying within approved limits.</a:t>
            </a:r>
          </a:p>
        </p:txBody>
      </p:sp>
    </p:spTree>
    <p:extLst>
      <p:ext uri="{BB962C8B-B14F-4D97-AF65-F5344CB8AC3E}">
        <p14:creationId xmlns:p14="http://schemas.microsoft.com/office/powerpoint/2010/main" val="1050262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D7694-902C-403C-819C-D19A24F0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604CB-5E18-4BF5-B1C0-7D52BA92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Basic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3B01D-F02A-48F1-86FE-31FA1A87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153AC-5018-4B1E-91E7-6DB74E7F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C8BA7-BB3F-448C-B1FA-DFF33F9C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571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5EA66-861B-4691-B272-EF79DE6C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6212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The outcome the agent tries to achieve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F36FD-6FEA-4E03-BD09-DAA5ED8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571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BA0C4-6D9A-4141-8713-186D606E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1462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An API, database, search service or application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AC78E-DB26-4EA2-B872-F1A58C5D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571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96A99-D86D-4483-A059-194E346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6712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Stored context that helps the agent use prior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EB601-9B2A-485E-94E1-8EB8C1A6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571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Guardrail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BE812-CBBA-45D2-9AA0-B3BEF14A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1962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rule that limits actions or requires human review</a:t>
            </a:r>
          </a:p>
        </p:txBody>
      </p:sp>
    </p:spTree>
    <p:extLst>
      <p:ext uri="{BB962C8B-B14F-4D97-AF65-F5344CB8AC3E}">
        <p14:creationId xmlns:p14="http://schemas.microsoft.com/office/powerpoint/2010/main" val="282173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8D53D-FFDA-4C59-8585-DE6C690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36F6-DCE4-4353-83C1-FAB651F0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Working /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DBCC1-88CE-458C-B02A-8606D8B3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 controlled agent works in a repeatable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6621B-0EDC-4784-A786-2C1D7164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2593-1055-437D-8C59-31CC98FD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F99E5-86CD-46F3-B71D-50A7B18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Understand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B0BB6-6E78-4973-ABDC-2BEF6A17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27B7B-C5B8-43B4-A15F-9BB0C98B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 tool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 retrieve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6B8CF-BACD-4FD9-A5DF-F86536D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06B0F-D712-49B5-95C8-401A89EC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Respond or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cxnSp>
        <p:nvCxnSpPr>
          <p:cNvPr id="26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2419350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657725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896100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134475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B8910-B5B3-4C1B-943C-B96C7DA7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agent stops when it completes the task, reaches a limit, or needs a human decision.</a:t>
            </a:r>
          </a:p>
        </p:txBody>
      </p:sp>
    </p:spTree>
    <p:extLst>
      <p:ext uri="{BB962C8B-B14F-4D97-AF65-F5344CB8AC3E}">
        <p14:creationId xmlns:p14="http://schemas.microsoft.com/office/powerpoint/2010/main" val="1736670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672C1-7F4C-4077-B566-8CA6F7DE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5232A-9BA9-4DC4-8E3C-AA6C22B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Components /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C0A41-6FB7-4205-8C0A-E1A783F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AB215-86E1-45B7-86C1-C67E32D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9422B-2F30-45FE-993E-0F11B699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34290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and LLMs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BEF55-2ED3-4C94-B5CF-A86D96A2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02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Interpret requests and generate structured reasoning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8E2E3-9156-401A-9CF5-44CB164E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34290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AI agents and orchestration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8EFAA-11D8-4FB5-8E18-F2528C99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Manage the task loop and coordinate specialist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F99D5-CB74-4DC9-AEE3-F53B68A0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"/>
            <a:ext cx="34290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Tools and APIs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CDEC8-5D65-43F4-9E25-B68F0FF3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Retrieve data and perform approved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EACC6-088E-4E5B-B3D0-658F63D8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34290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Knowledge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DA9CB-6B19-4284-9A9A-96BAE49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290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Find relevant documents and current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4FB25-86A6-4F23-A08C-73AC4FF1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34290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Guardrails and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44E65-7CE6-42C5-89B7-4E150A50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 quality, safety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1352267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CFFD4-85FF-4C51-B7AA-B0BCDE74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C3D6B-6D4A-4F80-93C3-09F20666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Industry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C5690-F6D1-49C9-8FB0-C5723DA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8818D-42D8-46D2-BB49-02416CB4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2F41F-2ED0-4F19-BBE3-878B88B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715F2-CEEA-4A5B-B73A-6102B09C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Reads account context and resolves routine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A6CC0-3605-48B1-8F63-4E2B063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28575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Software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FA69B-67AF-457C-8A2E-55AF750F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Helps with code tasks, tests and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47B3B-E7D8-4CD9-8E9E-D7FF14C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28575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BAFB6-EC7C-4FEA-AD36-9C5094AA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Checks records, creates reports and routes exceptions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A555E-D3F0-4717-95F9-C179F44B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Other uses include research assistance, document processing, IT support and scheduling.</a:t>
            </a:r>
          </a:p>
        </p:txBody>
      </p:sp>
    </p:spTree>
    <p:extLst>
      <p:ext uri="{BB962C8B-B14F-4D97-AF65-F5344CB8AC3E}">
        <p14:creationId xmlns:p14="http://schemas.microsoft.com/office/powerpoint/2010/main" val="694220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FCA1F-8604-43CB-BC15-965DBCC2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74563-A41E-4F8C-AC2D-6F0554CB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Real-World 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8E4E7-B0B6-45EF-ABE1-2B90E05A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Customer support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8630B-0691-4B41-9011-E86F7A3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C9D61-4C6B-4E5D-84D4-4B532ED6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1370F-CC01-471B-A93F-BB9B8C7E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123B9-CF48-495A-8F6E-9F3FAA2B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Read policy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EDEE2-C2A3-4548-A090-B15ED5AF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approved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7B842-AC07-46E2-8518-3168CFF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76500"/>
            <a:ext cx="1714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3E9D9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Confirm result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 hand off</a:t>
            </a:r>
          </a:p>
        </p:txBody>
      </p:sp>
      <p:cxnSp>
        <p:nvCxnSpPr>
          <p:cNvPr id="23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2419350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657725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896100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5AA8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122DF-B391-4C59-8051-16847DD4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Example: A support agent can check order status or reset a password. It should hand off payment disputes and other sensitive cases to a person.</a:t>
            </a:r>
          </a:p>
        </p:txBody>
      </p:sp>
    </p:spTree>
    <p:extLst>
      <p:ext uri="{BB962C8B-B14F-4D97-AF65-F5344CB8AC3E}">
        <p14:creationId xmlns:p14="http://schemas.microsoft.com/office/powerpoint/2010/main" val="2020283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79762-7960-4162-935B-519429FE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A2428-5A05-4312-9499-0CA11630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Advantages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A2BF3-62A1-4CCB-A3A6-15955411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0F96F-0376-4107-9EE8-5403379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FD560-AEB3-4D5E-BB8D-7D6B1AB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897F4-514D-4161-AA1A-0E1C58E7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287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Faster service for routine, multi-step requests.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4EBF4-27C6-4E31-AE19-062E5D00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A8B12-F06E-4813-A53D-F3EF32C3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669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More consistent use of approved procedures and documentation.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FA72B-1200-49C6-9AC5-0C4ED29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0DBBC-54D4-445B-8292-73525166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051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Better use of context from connected systems.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B4D20-E6A4-48CE-9A05-64FB9413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74FCE-76D8-4A1C-9C0D-FD75230D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433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Human staff can focus on complex, sensitive or exceptional cases.</a:t>
            </a:r>
          </a:p>
        </p:txBody>
      </p:sp>
    </p:spTree>
    <p:extLst>
      <p:ext uri="{BB962C8B-B14F-4D97-AF65-F5344CB8AC3E}">
        <p14:creationId xmlns:p14="http://schemas.microsoft.com/office/powerpoint/2010/main" val="6995315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006EC-2F70-4A56-AF0B-A5D0CF0E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76655-E487-48D3-9D67-03F4460F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Limitations /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3C50D-255C-45EE-95D3-28657B27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0D860-8CD4-4809-9B86-C5352C4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DAD7D-2E8E-468E-AB66-F96C6278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952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Incorrect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3DCD0-2CC9-49AB-8CF9-1412E28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6667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agent may misunderstand a request or select the wrong tool.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3B9ED-BF28-4CC3-93E6-5ED56481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952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Data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F4C9C-1DA3-4579-B952-D303F14F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667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Connected systems require strict access control and auditing.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EE0F6-30F4-4859-B0DA-EF48643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952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Cost and latency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F10D7-1E35-4B66-8943-30E9DB8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6667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Longer agent loops can consume more time and computing resources.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2B11A-DD3F-4AF4-9C95-0D8C8738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952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9E7"/>
          </a:solidFill>
          <a:ln xmlns:a="http://schemas.openxmlformats.org/drawingml/2006/main" w="9525">
            <a:solidFill>
              <a:srgbClr val="F3B0A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445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4536"/>
                </a:solidFill>
                <a:latin typeface="Arial"/>
                <a:ea typeface="Arial"/>
                <a:cs typeface="Arial"/>
              </a:rPr>
              <a:t>Trust and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170B3-E2F3-43C6-8BBD-9576EB7E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6667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High-impact decisions need human review and clear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701201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394E0-AC63-49E8-95E0-BB8C7425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F5389-C1AE-450D-B604-3477BEBD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Industry Expected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5A471-F383-42D1-9272-6A8F2355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11B56-96CC-4A6E-B6A3-830C4C1F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AB8F3-90A3-45E5-8D1F-BD2DAC2C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25717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184EB-BA9D-48DF-8D58-BD30788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Routine work finishes with fewer manual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B4E9C-39E8-41AA-A397-50901219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5717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A717E-D81C-4F95-B0C4-73F40C05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Checks and standard procedures improve consistency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098C2-4B65-4D77-BB5A-5AF99077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5717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 reduction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BB4B5-A2F6-4FD1-B22F-8B162E5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Agents can gather information and prepare responses quickly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58069-47DD-4853-9914-97800BF2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25717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78AA7-B074-4E52-9449-A0874371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052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Teams can automate repeatable workflows with exceptions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24D57-81E6-4960-9D17-6322B8B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5717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Decision-making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86E78-F459-43A2-B4B8-219A25E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Agents provide relevant context for human decisions</a:t>
            </a:r>
          </a:p>
        </p:txBody>
      </p:sp>
    </p:spTree>
    <p:extLst>
      <p:ext uri="{BB962C8B-B14F-4D97-AF65-F5344CB8AC3E}">
        <p14:creationId xmlns:p14="http://schemas.microsoft.com/office/powerpoint/2010/main" val="5244503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21E1-756C-4803-A92D-A936511D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E5775-09E6-4048-8202-0B697E05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Skills &amp; Career Opportunities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F72B-841F-46FF-9DEA-F92F8847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351CA-E559-46D5-9E10-86C98D8E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6F0A8-C6F5-4514-AAB7-2854FB25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40957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Skills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85C49-B0D5-46A7-831D-88A8C2C3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Python or JavaScript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APIs and databases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Prompt and workflow design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Testing, evaluation and security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Cloud and deployment basics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FD559-6B09-405C-B264-FFBCA548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0957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8EEF5"/>
          </a:solidFill>
          <a:ln xmlns:a="http://schemas.openxmlformats.org/drawingml/2006/main" w="9525">
            <a:solidFill>
              <a:srgbClr val="B9D6E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Career Opportunities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654E3-2CF1-4018-B0FE-683EB5C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AI application developer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Automation engineer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Data and AI engineer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AI product specialist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Responsible AI and security roles</a:t>
            </a:r>
          </a:p>
        </p:txBody>
      </p:sp>
    </p:spTree>
    <p:extLst>
      <p:ext uri="{BB962C8B-B14F-4D97-AF65-F5344CB8AC3E}">
        <p14:creationId xmlns:p14="http://schemas.microsoft.com/office/powerpoint/2010/main" val="779019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3D86E-D2A4-4BA2-A47A-879B13EA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7AE77-480D-4CC4-8550-71DA945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C9A68-6457-4D98-AEE6-AB9A862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F23E3-79DB-431D-A790-1CECC315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4D74F-A16F-44EB-B229-85047EF5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F89FE-660C-4263-A48B-3238D455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287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More capable tool use with better safeguards and approvals.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0F71B-764E-4121-A480-B978FFA0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CFBA7-7881-4D4D-BA9D-5FA22A7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669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Specialist agents coordinated for complex tasks across departments.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DD05A-B52D-491F-A1FF-6779CD5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EE978-E9ED-4144-84FB-05A9F698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051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Multimodal agents that understand text, images, audio and software interfaces.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25EAF-5CCC-4657-AEB0-0389C5B0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72F4E-6D24-4FDD-B596-BCC570CE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433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Improved evaluation, monitoring and governance for real-world deployment.</a:t>
            </a:r>
          </a:p>
        </p:txBody>
      </p:sp>
    </p:spTree>
    <p:extLst>
      <p:ext uri="{BB962C8B-B14F-4D97-AF65-F5344CB8AC3E}">
        <p14:creationId xmlns:p14="http://schemas.microsoft.com/office/powerpoint/2010/main" val="892891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67E27-8862-4F6F-AEAA-38D464BD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52EDC-4E58-4592-A9A0-E760DF3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267F4-0F06-4B4B-9379-C614F48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95857-61E8-4D73-A3F4-8CB29036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4374C-CD41-4D50-B176-2C02646E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B4E84-25EC-4306-B7BC-C3446CA8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192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Agentic AI extends chatbots with planning, tools, feedback and controlled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7F570-611B-433C-8A00-3214186C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BCA17-ED33-436C-94CF-E2C190C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574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Its value comes from solving multi-step tasks while keeping people in control of sensitive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FEBB7-D622-4D3A-868C-18FD964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1CCF7-C683-4FF7-9038-0C4F34F4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956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best starting point is a small, well-tested workflow with clear guardrails.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CCA94-13FA-435A-80E5-EE4F511D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371395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EB53E-4644-4665-AF68-6D2F92F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F66B2-45B2-4125-938F-950A6A2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708BD-3D9B-4859-92B2-530FE8D8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9D6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414ED-46EF-4215-B99D-C8C850A2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A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E5AA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DB97C-40A0-4A87-B733-24F1306F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5148C-B183-43AA-870D-B911F1D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919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OpenAI. A practical guide to building AI agents. https://openai.com/business/guides-and-resources/a-practical-guide-to-building-ai-agents/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99990-327A-4A31-AA8D-17B1C4C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DF3FE-08B7-47C6-B0F0-A08DB89B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9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Anthropic. Building effective agents. https://www.anthropic.com/engineering/building-effective-agents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6B1EC-F29A-4090-8804-2E33B1C7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B0C9E-6453-4C54-99FB-AA79119F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919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IBM. What are components of AI agents? https://www.ibm.com/think/topics/components-of-ai-agents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0E6D5-93E2-443C-8269-6DA574E1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3F907-2B73-47DB-B3A7-D156CB09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919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Department of Diploma Computer Engineering. Seminar Guidelines, Instructions &amp; Topic Allocation.</a:t>
            </a:r>
          </a:p>
        </p:txBody>
      </p:sp>
    </p:spTree>
    <p:extLst>
      <p:ext uri="{BB962C8B-B14F-4D97-AF65-F5344CB8AC3E}">
        <p14:creationId xmlns:p14="http://schemas.microsoft.com/office/powerpoint/2010/main" val="1714337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2026-09-26T18:50:21.1590000Z</dcterms:created>
  <dcterms:modified xsi:type="dcterms:W3CDTF">2026-09-26T18:50:21.1590000Z</dcterms:modified>
</coreProperties>
</file>