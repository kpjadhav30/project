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0cfaf79dba4aa5" /><Relationship Type="http://schemas.openxmlformats.org/officeDocument/2006/relationships/extended-properties" Target="/docProps/app.xml" Id="R360f830e3bed4a38" /><Relationship Type="http://schemas.openxmlformats.org/officeDocument/2006/relationships/officeDocument" Target="/ppt/presentation.xml" Id="Rd83c6a74953f43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a8f0601dfb4c3e"/>
  </p:sldMasterIdLst>
  <p:notesMasterIdLst>
    <p:notesMasterId xmlns:r="http://schemas.openxmlformats.org/officeDocument/2006/relationships" r:id="R0775989dbecb4ec9"/>
  </p:notesMasterIdLst>
  <p:sldIdLst>
    <p:sldId xmlns:r="http://schemas.openxmlformats.org/officeDocument/2006/relationships" id="256" r:id="Rc1f83a44fb504bfd"/>
    <p:sldId xmlns:r="http://schemas.openxmlformats.org/officeDocument/2006/relationships" id="257" r:id="R616e8efdfa454a31"/>
    <p:sldId xmlns:r="http://schemas.openxmlformats.org/officeDocument/2006/relationships" id="258" r:id="Rf239c693eb1e4620"/>
    <p:sldId xmlns:r="http://schemas.openxmlformats.org/officeDocument/2006/relationships" id="259" r:id="Rd91736a80b884637"/>
    <p:sldId xmlns:r="http://schemas.openxmlformats.org/officeDocument/2006/relationships" id="260" r:id="R9f9d5b9090ed4a28"/>
    <p:sldId xmlns:r="http://schemas.openxmlformats.org/officeDocument/2006/relationships" id="261" r:id="Reb090744e5b24268"/>
    <p:sldId xmlns:r="http://schemas.openxmlformats.org/officeDocument/2006/relationships" id="262" r:id="R708968ece4834e86"/>
    <p:sldId xmlns:r="http://schemas.openxmlformats.org/officeDocument/2006/relationships" id="263" r:id="Rd5eee035cb2f49fe"/>
    <p:sldId xmlns:r="http://schemas.openxmlformats.org/officeDocument/2006/relationships" id="264" r:id="R12db74c3060048c9"/>
    <p:sldId xmlns:r="http://schemas.openxmlformats.org/officeDocument/2006/relationships" id="265" r:id="R49dc7ad854354061"/>
    <p:sldId xmlns:r="http://schemas.openxmlformats.org/officeDocument/2006/relationships" id="266" r:id="R47904ec74c3d4a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a7d93af6184f0a" /><Relationship Type="http://schemas.openxmlformats.org/officeDocument/2006/relationships/slideMaster" Target="/ppt/slideMasters/slideMaster1.xml" Id="Rfda8f0601dfb4c3e" /><Relationship Type="http://schemas.openxmlformats.org/officeDocument/2006/relationships/notesMaster" Target="/ppt/notesMasters/notesMaster1.xml" Id="R0775989dbecb4ec9" /><Relationship Type="http://schemas.openxmlformats.org/officeDocument/2006/relationships/presProps" Target="/ppt/presProps.xml" Id="Rf06b3c6e89fa4c11" /><Relationship Type="http://schemas.openxmlformats.org/officeDocument/2006/relationships/tableStyles" Target="/ppt/tableStyles.xml" Id="Re9e7e7b5921b4de1" /><Relationship Type="http://schemas.openxmlformats.org/officeDocument/2006/relationships/slide" Target="/ppt/slides/slide1.xml" Id="Rc1f83a44fb504bfd" /><Relationship Type="http://schemas.openxmlformats.org/officeDocument/2006/relationships/slide" Target="/ppt/slides/slide2.xml" Id="R616e8efdfa454a31" /><Relationship Type="http://schemas.openxmlformats.org/officeDocument/2006/relationships/slide" Target="/ppt/slides/slide3.xml" Id="Rf239c693eb1e4620" /><Relationship Type="http://schemas.openxmlformats.org/officeDocument/2006/relationships/slide" Target="/ppt/slides/slide4.xml" Id="Rd91736a80b884637" /><Relationship Type="http://schemas.openxmlformats.org/officeDocument/2006/relationships/slide" Target="/ppt/slides/slide5.xml" Id="R9f9d5b9090ed4a28" /><Relationship Type="http://schemas.openxmlformats.org/officeDocument/2006/relationships/slide" Target="/ppt/slides/slide6.xml" Id="Reb090744e5b24268" /><Relationship Type="http://schemas.openxmlformats.org/officeDocument/2006/relationships/slide" Target="/ppt/slides/slide7.xml" Id="R708968ece4834e86" /><Relationship Type="http://schemas.openxmlformats.org/officeDocument/2006/relationships/slide" Target="/ppt/slides/slide8.xml" Id="Rd5eee035cb2f49fe" /><Relationship Type="http://schemas.openxmlformats.org/officeDocument/2006/relationships/slide" Target="/ppt/slides/slide9.xml" Id="R12db74c3060048c9" /><Relationship Type="http://schemas.openxmlformats.org/officeDocument/2006/relationships/slide" Target="/ppt/slides/slide10.xml" Id="R49dc7ad854354061" /><Relationship Type="http://schemas.openxmlformats.org/officeDocument/2006/relationships/slide" Target="/ppt/slides/slide11.xml" Id="R47904ec74c3d4a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69a8261f7145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7a7f75175848d0" /><Relationship Type="http://schemas.openxmlformats.org/officeDocument/2006/relationships/notesMaster" Target="/ppt/notesMasters/notesMaster1.xml" Id="R8d10c2caf1be47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55035015b14a51" /><Relationship Type="http://schemas.openxmlformats.org/officeDocument/2006/relationships/notesMaster" Target="/ppt/notesMasters/notesMaster1.xml" Id="R53663c418a1a42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52392a1f664504" /><Relationship Type="http://schemas.openxmlformats.org/officeDocument/2006/relationships/notesMaster" Target="/ppt/notesMasters/notesMaster1.xml" Id="Ra1f9f10562154b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7e654950f94d12" /><Relationship Type="http://schemas.openxmlformats.org/officeDocument/2006/relationships/notesMaster" Target="/ppt/notesMasters/notesMaster1.xml" Id="R731a7760e6ef42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22abbd414e4ede" /><Relationship Type="http://schemas.openxmlformats.org/officeDocument/2006/relationships/notesMaster" Target="/ppt/notesMasters/notesMaster1.xml" Id="Rfc09a3f9fa9143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6bbe124beb4b2f" /><Relationship Type="http://schemas.openxmlformats.org/officeDocument/2006/relationships/notesMaster" Target="/ppt/notesMasters/notesMaster1.xml" Id="R4fc8ff6a7a9c44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b61a75d679423d" /><Relationship Type="http://schemas.openxmlformats.org/officeDocument/2006/relationships/notesMaster" Target="/ppt/notesMasters/notesMaster1.xml" Id="Rdf1cc6046ab642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e134f90edf44ec" /><Relationship Type="http://schemas.openxmlformats.org/officeDocument/2006/relationships/notesMaster" Target="/ppt/notesMasters/notesMaster1.xml" Id="R835a4956cadb46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e31ff783b34d0a" /><Relationship Type="http://schemas.openxmlformats.org/officeDocument/2006/relationships/notesMaster" Target="/ppt/notesMasters/notesMaster1.xml" Id="R01f70173b96243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80279f2723423a" /><Relationship Type="http://schemas.openxmlformats.org/officeDocument/2006/relationships/notesMaster" Target="/ppt/notesMasters/notesMaster1.xml" Id="Rab3bf0b747bd41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1baa8b62234ec9" /><Relationship Type="http://schemas.openxmlformats.org/officeDocument/2006/relationships/notesMaster" Target="/ppt/notesMasters/notesMaster1.xml" Id="Ra176ccab1af14b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reference: 15 Seminar Topics Diploma Computer Engineering, Group 1: Agentic AI: The Evolution from Chatbots to Autonomous AI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Topic reference: 15 Seminar Topics Diploma Computer Engineering, Group 1: Agentic AI: The Evolution from Chatbots to Autonomous AI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Sources: Anthropic, Building effective agents, https://www.anthropic.com/engineering/building-effective-agents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Sources: IBM, What are components of AI agents?, https://www.ibm.com/think/topics/components-of-ai-agents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Sources: Anthropic, Building effective agents, https://www.anthropic.com/engineering/building-effective-agents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Example workflow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Sources: IBM, What are components of AI agents?, https://www.ibm.com/think/topics/components-of-ai-agents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Project ideas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Sources: Anthropic, Building effective agents, https://www.anthropic.com/engineering/building-effective-agents (accessed 27 Sep 2026).</a:t>
            </a:r>
          </a:p>
          <a:p xmlns:a="http://schemas.openxmlformats.org/drawingml/2006/main">
            <a:r>
              <a:t>Sources: IBM, What are components of AI agents?, https://www.ibm.com/think/topics/components-of-ai-agents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f52d8b2864b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4ecee776884f6d" /><Relationship Type="http://schemas.openxmlformats.org/officeDocument/2006/relationships/slideLayout" Target="/ppt/slideLayouts/slideLayout1.xml" Id="Rb0d75435cd574a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d75435cd574a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2d83c56c74cd0" /><Relationship Type="http://schemas.openxmlformats.org/officeDocument/2006/relationships/notesSlide" Target="/ppt/notesSlides/notesSlide1.xml" Id="R4b056c1dfa3443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8e03039bf4f1e" /><Relationship Type="http://schemas.openxmlformats.org/officeDocument/2006/relationships/notesSlide" Target="/ppt/notesSlides/notesSlide2.xml" Id="R01cb004cdfab44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bc3df530d43e9" /><Relationship Type="http://schemas.openxmlformats.org/officeDocument/2006/relationships/notesSlide" Target="/ppt/notesSlides/notesSlide3.xml" Id="Rba5e7a00e6d847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bc196e4d94259" /><Relationship Type="http://schemas.openxmlformats.org/officeDocument/2006/relationships/notesSlide" Target="/ppt/notesSlides/notesSlide4.xml" Id="Re1d2f292082247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1fd7d32d54371" /><Relationship Type="http://schemas.openxmlformats.org/officeDocument/2006/relationships/notesSlide" Target="/ppt/notesSlides/notesSlide5.xml" Id="R0505a8d0cc9347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9ec3cadac4acb" /><Relationship Type="http://schemas.openxmlformats.org/officeDocument/2006/relationships/notesSlide" Target="/ppt/notesSlides/notesSlide6.xml" Id="Rfc1a1e2197d54c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9e30a75f94907" /><Relationship Type="http://schemas.openxmlformats.org/officeDocument/2006/relationships/notesSlide" Target="/ppt/notesSlides/notesSlide7.xml" Id="R2bee1813068842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ae69b583a40fa" /><Relationship Type="http://schemas.openxmlformats.org/officeDocument/2006/relationships/notesSlide" Target="/ppt/notesSlides/notesSlide8.xml" Id="Rcac957fe78ae4d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ca11c22934352" /><Relationship Type="http://schemas.openxmlformats.org/officeDocument/2006/relationships/notesSlide" Target="/ppt/notesSlides/notesSlide9.xml" Id="Re37eec60916542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554e40c9c471f" /><Relationship Type="http://schemas.openxmlformats.org/officeDocument/2006/relationships/notesSlide" Target="/ppt/notesSlides/notesSlide10.xml" Id="Ra8bdea5f79c249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6ecec2ea5499f" /><Relationship Type="http://schemas.openxmlformats.org/officeDocument/2006/relationships/notesSlide" Target="/ppt/notesSlides/notesSlide11.xml" Id="Rb27d2a8674ea47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EAA3A-7695-4DC7-8A97-2D0DD9EE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7A4FF-05DE-46E3-88A2-C34AA522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C1C66-55BE-4C6C-82C1-F29E0C53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66850"/>
            <a:ext cx="2238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0A55A-3F19-49FC-848D-29D9A624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1047750" cy="428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F8C22-8049-46BF-8416-7F2AE01D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76750"/>
            <a:ext cx="1047750" cy="428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28B96-6114-494F-B372-93194AC5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76750"/>
            <a:ext cx="1047750" cy="428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ECBD7-2E24-4436-9320-C784D5B0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Agentic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6CE1B-0EDA-46D2-A704-8ACCDD01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09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9EAF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1"/>
                </a:solidFill>
                <a:latin typeface="Arial"/>
                <a:ea typeface="Arial"/>
                <a:cs typeface="Arial"/>
              </a:rPr>
              <a:t>The evolution from chatbots to autonomous AI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9DF89-E5F2-42FD-BE2C-CE924F0D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2B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2B7C7"/>
                </a:solidFill>
                <a:latin typeface="Arial"/>
                <a:ea typeface="Arial"/>
                <a:cs typeface="Arial"/>
              </a:rPr>
              <a:t>Seminar presentation | Diploma Computer 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44E1D-EBF6-4701-B3DA-1991A3DB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9EAF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AF1"/>
                </a:solidFill>
                <a:latin typeface="Arial"/>
                <a:ea typeface="Arial"/>
                <a:cs typeface="Arial"/>
              </a:rPr>
              <a:t>Name: ____________________    Roll No.: __________</a:t>
            </a:r>
          </a:p>
        </p:txBody>
      </p:sp>
    </p:spTree>
    <p:extLst>
      <p:ext uri="{BB962C8B-B14F-4D97-AF65-F5344CB8AC3E}">
        <p14:creationId xmlns:p14="http://schemas.microsoft.com/office/powerpoint/2010/main" val="1425949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15F6C-5B96-407E-BBE0-B171330F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B1326-8E49-47C6-A76A-19B88F5A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From conversation to task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B52FF-8A64-4026-9E75-1A497A57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Agentic AI adds planning and action to the familiar chatbot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40732-E871-4BCA-87E3-F74546BB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94B9B-C625-4103-9D5B-AAF1E9F9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1DF4F-6745-432D-9D25-3D1F556D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THE SHIFT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D0610-B7DE-4792-9C8C-183F9852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0F7FB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Chatbot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6997B-4112-4954-8F75-F72FBBD3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Copilot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assists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E69D6-89C8-487C-8C45-5ADAE5DA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BFE7ED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Agent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completes tasks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F0CD2-3C70-4783-888A-CF29C874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D3E9D9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9232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Autonomous system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operates with limits</a:t>
            </a:r>
          </a:p>
        </p:txBody>
      </p:sp>
      <p:cxnSp>
        <p:nvCxnSpPr>
          <p:cNvPr id="25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2447925" y="2752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2B7C7"/>
            </a:solidFill>
            <a:prstDash val="solid"/>
            <a:head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686300" y="2752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2B7C7"/>
            </a:solidFill>
            <a:prstDash val="solid"/>
            <a:head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10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6924675" y="2752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2B7C7"/>
            </a:solidFill>
            <a:prstDash val="solid"/>
            <a:head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AB875-B98C-42EC-A3D7-B53B904C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9953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chatbot mainly responds to a prompt. An agent can decide the next step, use approved tools, verify results, and ask for help when a risk or exception appears.</a:t>
            </a:r>
          </a:p>
        </p:txBody>
      </p:sp>
    </p:spTree>
    <p:extLst>
      <p:ext uri="{BB962C8B-B14F-4D97-AF65-F5344CB8AC3E}">
        <p14:creationId xmlns:p14="http://schemas.microsoft.com/office/powerpoint/2010/main" val="711828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174F2-CA6D-4926-962E-04D5B656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7CC6F-5574-4336-A255-950523A3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Chatbot and agent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38604-0FF8-499F-B3C7-2DB5A8F5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difference is control over a workflow, not simply better text generation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7A433-FDDD-465F-B642-6C549CDD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E6B65-B29E-4108-8157-E3D2B75F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2CE9E-756A-4F26-A794-F412E8BD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59FCD-39D5-4149-9441-846169FE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1925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Chatbot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3491B-7787-4573-9806-186A7573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Agentic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1B41F-DBA0-4AA8-A9EC-C18F5558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38BEA-94A5-45BB-B128-E7794603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5481E-072D-40C2-87CD-789EAEF7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Answer a 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A15E5-9807-4270-BB6E-FC722002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Achieve a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B83C7-CB98-4B84-B6DB-D42A5F05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383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Moves beyond one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E6F83-DB13-4BB1-B862-638431F7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 making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C9A6C-7D9E-4771-83E2-372F1029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1940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Prompt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8ABCE-AF3F-4A3C-B95F-F87B04B5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Chooses steps during a 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10CED-0FAD-4C8A-A815-E0E50E5F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194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Handles changing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C675E-3080-4718-9BC8-E2485955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78424-3002-4FE5-BD4E-5249BE42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045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Usually none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863C5-5742-4239-A3BB-176ED1F4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Calls APIs, search, databases, apps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4CF7B-2EFB-4080-BC09-0FEC01AE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004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Can retrieve and 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3EF140-FA6A-4A62-9417-A1BDA9B8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9BDA03-C7F2-4614-B1C2-91DA7EF3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User drives next prompt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CA7725-9ACD-4430-9114-10862A7F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Guardrails define what it may 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D6B10-D351-4B60-A9AE-BF1F72B8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815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Keeps actions bounded</a:t>
            </a:r>
          </a:p>
        </p:txBody>
      </p:sp>
    </p:spTree>
    <p:extLst>
      <p:ext uri="{BB962C8B-B14F-4D97-AF65-F5344CB8AC3E}">
        <p14:creationId xmlns:p14="http://schemas.microsoft.com/office/powerpoint/2010/main" val="21110215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AC050-2AED-4969-98E3-AAF4442D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B2E3F-D403-4DA6-93B5-FF8D44E2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Core components of an AI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7C82D-7184-4BD2-A271-4F109E5E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 useful agent joins a reasoning model to data, tools, instructions and 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7A767-AAC8-4B52-9A18-09C37F10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B5329-140D-4781-B95F-75F0AFC9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24D42-802B-41F2-85ED-6C786EF5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AGENT ANATOMY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53B75-967E-4064-8AC8-5A38AFD9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2857500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Reasoning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09BC7-7E53-4490-8704-927CB3BD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2286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Instructions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guardrails</a:t>
            </a:r>
          </a:p>
        </p:txBody>
      </p: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3429000" y="2438400"/>
            <a:ext cx="1238250" cy="728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B7C7"/>
            </a:solidFill>
            <a:prstDash val="solid"/>
            <a:head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A3D2D-26A3-4A20-809A-704D25B8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00250"/>
            <a:ext cx="2286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context</a:t>
            </a:r>
          </a:p>
        </p:txBody>
      </p:sp>
      <p:cxnSp>
        <p:nvCxnSpPr>
          <p:cNvPr id="27" name=""/>
          <p:cNvCxnSpPr>
            <a:stCxn xmlns:a="http://schemas.openxmlformats.org/drawingml/2006/main" id="10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7524750" y="2438400"/>
            <a:ext cx="904875" cy="728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B7C7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A394F-5FC5-49BF-846C-AF238BDC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0050"/>
            <a:ext cx="2286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Tools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APIs</a:t>
            </a:r>
          </a:p>
        </p:txBody>
      </p:sp>
      <p:cxnSp>
        <p:nvCxnSpPr>
          <p:cNvPr id="29" name=""/>
          <p:cNvCxnSpPr>
            <a:stCxn xmlns:a="http://schemas.openxmlformats.org/drawingml/2006/main" id="12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571875" y="3167063"/>
            <a:ext cx="1095375" cy="14811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B7C7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DB0E3-FB68-4371-ABA5-6E043D1E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0050"/>
            <a:ext cx="2286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D3E9D9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feedback</a:t>
            </a:r>
          </a:p>
        </p:txBody>
      </p:sp>
      <p:cxnSp>
        <p:nvCxnSpPr>
          <p:cNvPr id="31" name=""/>
          <p:cNvCxnSpPr>
            <a:stCxn xmlns:a="http://schemas.openxmlformats.org/drawingml/2006/main" id="14" idx="1"/>
            <a:endCxn xmlns:a="http://schemas.openxmlformats.org/drawingml/2006/main" id="7" idx="5"/>
          </p:cNvCxnSpPr>
          <p:nvPr/>
        </p:nvCxnSpPr>
        <p:spPr>
          <a:xfrm xmlns:a="http://schemas.openxmlformats.org/drawingml/2006/main" flipH="1" flipV="1">
            <a:off x="7106279" y="3554336"/>
            <a:ext cx="1180471" cy="109386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B7C7"/>
            </a:solidFill>
            <a:prstDash val="solid"/>
            <a:head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0D748-E807-4069-AC17-B325DCE3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197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39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model interprets the goal. The surrounding components give it permitted knowledge, actions and operating limits.</a:t>
            </a:r>
          </a:p>
        </p:txBody>
      </p:sp>
    </p:spTree>
    <p:extLst>
      <p:ext uri="{BB962C8B-B14F-4D97-AF65-F5344CB8AC3E}">
        <p14:creationId xmlns:p14="http://schemas.microsoft.com/office/powerpoint/2010/main" val="3581792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34774-BCDE-4466-BB85-AF3C5B37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11702-16FE-4E52-AFC1-2A8D9829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agent execution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E312B-596E-47AC-BDDC-175AA699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system continues until it reaches a defined completion or escalation condition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E9EB1-D923-4DDB-AB34-7E9465D0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A35C6-1DA7-4637-B018-058AA1D4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B21B9-65F6-4370-A830-BDCD45B5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WORKFLOW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BDC99-A937-4A61-B187-2C723E7A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714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Understand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55B8B-8789-4DAF-8E1B-B544B055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76500"/>
            <a:ext cx="1714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Plan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18B8D-0B1C-45D9-A19C-32FAFD1A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714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a tool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or retrieve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1575D-3644-4899-9F19-3F3CB8E1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76500"/>
            <a:ext cx="1714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Check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338A6-2B08-4C73-801B-9AC37C8F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714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D3E9D9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Respond or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2381250" y="29241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619625" y="29241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10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6858000" y="29241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11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9096375" y="29241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28B92-67AF-4EE6-9091-66D8606B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3387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Example: An IT support agent reads a ticket, checks the user account, applies an approved reset procedure, verifies the result, and records the outcome.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0CAC7-4FFD-4AA9-86C6-98076E81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4536"/>
                </a:solidFill>
                <a:latin typeface="Arial"/>
                <a:ea typeface="Arial"/>
                <a:cs typeface="Arial"/>
              </a:rPr>
              <a:t>A stop condition and human handoff are essential when the request falls outside approved rules.</a:t>
            </a:r>
          </a:p>
        </p:txBody>
      </p:sp>
    </p:spTree>
    <p:extLst>
      <p:ext uri="{BB962C8B-B14F-4D97-AF65-F5344CB8AC3E}">
        <p14:creationId xmlns:p14="http://schemas.microsoft.com/office/powerpoint/2010/main" val="9013406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CE096-2844-4C41-B1C4-7488413B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9B4E0-B1BA-4BA8-B708-B0F8B526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Common architectures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60096-2479-42BB-940C-5DA0D9C9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Choose the simplest architecture that can reliably perform the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5689F-E955-4F2E-96B8-9C0B8FDD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E61B1-069C-416A-89FB-E0921F40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FACA3-4789-4802-8B3F-FBDA5422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76225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 agent</a:t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model with focused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623AB-8AF0-4725-AB65-8EDBA135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276225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Workflow</a:t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Predefined stages and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D6F01-4FF2-43F4-B1E8-953ED9F1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276225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D3E9D9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Multi-agent system</a:t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Specialists coordinated by a manager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09EFF-AEF2-46C6-B5FE-8EE83B05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Useful for a narrow task with few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70092-42F1-4774-9ACC-28CC92FD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242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Useful when compliance requires a fixed sequence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25424-F917-483C-811B-E1CAAA32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242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Useful when tasks need distinct expertise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26C21-97BB-4DA2-BA53-C14189D4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3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Start with a single, well-instructed agent. Add specialization only when evaluation shows a clear benefit.</a:t>
            </a:r>
          </a:p>
        </p:txBody>
      </p:sp>
    </p:spTree>
    <p:extLst>
      <p:ext uri="{BB962C8B-B14F-4D97-AF65-F5344CB8AC3E}">
        <p14:creationId xmlns:p14="http://schemas.microsoft.com/office/powerpoint/2010/main" val="7670062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516A2-D690-4F93-8B54-16FF2425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59825-1261-4A42-8625-A098C5B3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Example: Customer support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E55B2-FB58-45CB-8FE5-C2BCB966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 controlled agent can handle routine cases while keeping sensitive decisions with people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5AA8E-3C46-4C6E-91BC-1AFCA9CC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A6A85-AF24-452B-9FD1-E8AF5A9E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1AAD3-8DB2-492F-B049-7EC0D451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ILLUSTRATIVE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A3298-6197-42DE-A64C-7E4BC2A3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0F7FB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1B106-8272-458F-AB23-688F842E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Agent reads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policy and 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2959F-A8F7-47AE-9585-17A5FB8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Approved tool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D03CF-5A38-4FD2-8707-BA329BA2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D3E9D9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Confirmation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or human handoff</a:t>
            </a:r>
          </a:p>
        </p:txBody>
      </p:sp>
      <p:cxnSp>
        <p:nvCxnSpPr>
          <p:cNvPr id="25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2447925" y="2752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2B7C7"/>
            </a:solidFill>
            <a:prstDash val="solid"/>
            <a:head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686300" y="2752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2B7C7"/>
            </a:solidFill>
            <a:prstDash val="solid"/>
            <a:head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10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6924675" y="2752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2B7C7"/>
            </a:solidFill>
            <a:prstDash val="solid"/>
            <a:head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4C825-E5CB-4E7B-9BDF-6882D44E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Suitable tasks: password reset, order status, appointment changes, document lookup. Sensitive cases: payment disputes, legal decisions, medical guidance and account closure.</a:t>
            </a:r>
          </a:p>
        </p:txBody>
      </p:sp>
    </p:spTree>
    <p:extLst>
      <p:ext uri="{BB962C8B-B14F-4D97-AF65-F5344CB8AC3E}">
        <p14:creationId xmlns:p14="http://schemas.microsoft.com/office/powerpoint/2010/main" val="6663983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2FA60-E22E-4267-A87A-FE433F70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6EC32-0B1A-494C-B95F-5F2C66FF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Potential benefits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E7018-55E6-4EAE-85DC-5F98E0EB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Agentic systems can improve work that involves repetitive, multi-step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FEB36-4384-4670-A0AC-BB9CE2D8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D8EF9-4819-491F-9239-B838C075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8A8C0-5E5D-42CD-8A2D-EDE30B1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2BE69-C39C-4F13-8DDC-5D8FA6A0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478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Faster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C18F2-0BD5-4F77-A628-0F084F23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288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Handles routine work without waiting for the next manual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9A27D-B3E5-4A5C-A920-B10F6EA5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0D4C1-C8AA-4DCE-9C96-61C1637A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955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Better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68DC7-9AD8-45C5-A74D-FF713918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765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Combines information from approved sources before responding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A1982-C66B-4B31-BC4D-AA6910AB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55B58-2A51-43D3-A460-31475DC5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43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Consistent 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24FC0-2094-4FEA-A896-12DB1A57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243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Applies the same rules and documentation every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70905-E77F-48D5-B920-CDAD1C4A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D8822-5442-428C-8EEC-C6DB0AA7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91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Human focus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7C0F6-1531-4432-97D4-ECB953AB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720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Routes complex or sensitive cases to people with relevant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4DF63-0104-4229-A728-9BF346A6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198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4536"/>
                </a:solidFill>
                <a:latin typeface="Arial"/>
                <a:ea typeface="Arial"/>
                <a:cs typeface="Arial"/>
              </a:rPr>
              <a:t>Benefits depend on reliable tools, accurate data and a clear definition of what the agent may do.</a:t>
            </a:r>
          </a:p>
        </p:txBody>
      </p:sp>
    </p:spTree>
    <p:extLst>
      <p:ext uri="{BB962C8B-B14F-4D97-AF65-F5344CB8AC3E}">
        <p14:creationId xmlns:p14="http://schemas.microsoft.com/office/powerpoint/2010/main" val="17392992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CF2CC-DE5A-426A-A69E-F573476C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81A92-285E-465D-A660-2D197553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Risks and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3CCDB-5193-4F9C-B29A-2C5577E4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Autonomy increases the need for boundaries, testing and human oversight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38CA6-B67D-48FE-8BD8-EA1439B5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40CCC-8C58-4E8A-A6A3-9861686F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EA50D-ADEC-4506-8D48-1BB67415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2857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9525">
            <a:solidFill>
              <a:srgbClr val="F3B0A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4536"/>
                </a:solidFill>
                <a:latin typeface="Arial"/>
                <a:ea typeface="Arial"/>
                <a:cs typeface="Arial"/>
              </a:rPr>
              <a:t>Incorrect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89E3E-CEB3-4B83-BDB6-9B720974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6572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Limit tool permissions and require confirmation for high-impact 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1BD70-17BB-43DD-87DE-6C6CD5A9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857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9525">
            <a:solidFill>
              <a:srgbClr val="F3B0A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4536"/>
                </a:solidFill>
                <a:latin typeface="Arial"/>
                <a:ea typeface="Arial"/>
                <a:cs typeface="Arial"/>
              </a:rPr>
              <a:t>Data 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B74C4-F6FB-4E91-94AE-138A9779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67000"/>
            <a:ext cx="6572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access controls, data minimization and audit logs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32DE4-9BFD-4D24-B148-E14BAE16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857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9525">
            <a:solidFill>
              <a:srgbClr val="F3B0A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4536"/>
                </a:solidFill>
                <a:latin typeface="Arial"/>
                <a:ea typeface="Arial"/>
                <a:cs typeface="Arial"/>
              </a:rPr>
              <a:t>Unreliable reasoning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731C4-BE33-4E3D-82BD-BED86299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19500"/>
            <a:ext cx="6572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Test realistic cases, measure performance and set escalation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4929E-1B5A-4235-ABA5-602C2BC9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857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9525">
            <a:solidFill>
              <a:srgbClr val="F3B0A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4536"/>
                </a:solidFill>
                <a:latin typeface="Arial"/>
                <a:ea typeface="Arial"/>
                <a:cs typeface="Arial"/>
              </a:rPr>
              <a:t>Tool misuse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505A3-4B77-40EB-AF69-37EDB002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0"/>
            <a:ext cx="6572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Validate inputs and restrict the scope of every action</a:t>
            </a:r>
          </a:p>
        </p:txBody>
      </p:sp>
    </p:spTree>
    <p:extLst>
      <p:ext uri="{BB962C8B-B14F-4D97-AF65-F5344CB8AC3E}">
        <p14:creationId xmlns:p14="http://schemas.microsoft.com/office/powerpoint/2010/main" val="8510025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DFC00-0D98-456E-8AB9-A2960331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9BC7A-D83C-4A31-8A26-7A1EC057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Relevance for computer engineering students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3EA99-F03C-43BC-B368-40FC02E2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Small, testable projects provide a practical entry point into agentic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CCF87-190B-44BB-99D2-7B2E7AE4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47343-3A4A-4032-A1B3-170908E0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2F30D-E8C6-4FCB-94DF-10D4AE28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30480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Campus helpdesk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AE54E-BA83-46AD-8C21-7F3DB19C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Answers policy questions from a curated document set and hands off unknown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4455C-8D95-44F4-A6B5-1647204F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9681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Lab equipment booking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64C36-2C56-45AB-BF85-86A5E583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51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Checks availability, follows booking rules and sends a confirmation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0B716-70E5-4E0C-AA5C-EDDC6C15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30480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Placement preparation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7FB50-8E4A-439D-8661-46B7836F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Creates a study plan from a syllabus and tracks completed topics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86DC1-F8C2-4B9F-9D75-B3685845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Build safely: begin with read-only information retrieval, log every tool call, then add one approved action after testing.</a:t>
            </a:r>
          </a:p>
        </p:txBody>
      </p:sp>
    </p:spTree>
    <p:extLst>
      <p:ext uri="{BB962C8B-B14F-4D97-AF65-F5344CB8AC3E}">
        <p14:creationId xmlns:p14="http://schemas.microsoft.com/office/powerpoint/2010/main" val="13312998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600AC-FD0D-4FE7-B434-20BD1B3C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97A22-B383-4C68-86F6-5E232C90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BCAC0-0540-429A-A6E9-9046B5D1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Agentic AI extends generative AI with planning, tools, feedback and controlled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A1C9F-EBB7-463B-83B4-18AC22C6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49134-DE14-4305-A659-249EFDE6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D8500-2CBB-4990-B8E2-60C90EA6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1AF39-C944-4ABD-B1E3-23655063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621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An agent manages a goal-driven workflow, while a chatbot mainly produces responses.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D2656-1036-481E-BB94-01604A0B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098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13765-1041-4AAD-80C9-6AED5B7E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622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Models, tools, instructions and memory form the practical core of an agentic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81006-3683-4CA3-9743-2DF07EBC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100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B4B09-35C3-4C1F-8689-225928DB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623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simple, well-tested design with clear safeguards is usually the best starting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2578C-54D0-4BDD-93CF-89563597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06122-DBD1-45FC-A8F9-037F5DFC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53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2B7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2B7C7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501478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2026-09-26T18:43:51.1120000Z</dcterms:created>
  <dcterms:modified xsi:type="dcterms:W3CDTF">2026-09-26T18:43:51.1120000Z</dcterms:modified>
</coreProperties>
</file>